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5.png"/><Relationship Id="rId7" Type="http://schemas.openxmlformats.org/officeDocument/2006/relationships/image" Target="../media/image-2-5.png"/><Relationship Id="rId8" Type="http://schemas.openxmlformats.org/officeDocument/2006/relationships/image" Target="../media/image-2-5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1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2.png"/><Relationship Id="rId4" Type="http://schemas.openxmlformats.org/officeDocument/2006/relationships/image" Target="../media/image-28-2.png"/><Relationship Id="rId5" Type="http://schemas.openxmlformats.org/officeDocument/2006/relationships/image" Target="../media/image-28-2.png"/><Relationship Id="rId6" Type="http://schemas.openxmlformats.org/officeDocument/2006/relationships/image" Target="../media/image-28-2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943600" cy="5943600"/>
          </a:xfrm>
          <a:prstGeom prst="ellipse">
            <a:avLst/>
          </a:prstGeom>
          <a:solidFill>
            <a:srgbClr val="8B7CF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280160"/>
            <a:ext cx="3291840" cy="3291840"/>
          </a:xfrm>
          <a:prstGeom prst="ellipse">
            <a:avLst/>
          </a:prstGeom>
          <a:solidFill>
            <a:srgbClr val="8B7CF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-1097280" y="5212080"/>
            <a:ext cx="4937760" cy="4937760"/>
          </a:xfrm>
          <a:prstGeom prst="roundRect">
            <a:avLst>
              <a:gd name="adj" fmla="val 9259"/>
            </a:avLst>
          </a:prstGeom>
          <a:solidFill>
            <a:srgbClr val="8B7CF7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5394960"/>
            <a:ext cx="2377440" cy="2377440"/>
          </a:xfrm>
          <a:prstGeom prst="ellipse">
            <a:avLst/>
          </a:prstGeom>
          <a:solidFill>
            <a:srgbClr val="3FB0C4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05156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272C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424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新用户培训 · 约 60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上手培训</a:t>
            </a:r>
            <a:endParaRPr lang="en-US" sz="4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分钟跑通你的第一集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从一部小说到成片视频的完整流程实操课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1" name="Image 0" descr="C:\Users\32364\AppData\Local\Temp\claude\E--Kaifa-Qiji-qiji\cb27863a-624a-4b93-8a28-290f7d580275\scratchpad\ppt\icons\LuFolderPlu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489204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08176" y="4828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准备工作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42416" y="5248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 · 项目 · 界面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520440" y="47091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5" name="Image 1" descr="C:\Users\32364\AppData\Local\Temp\claude\E--Kaifa-Qiji-qiji\cb27863a-624a-4b93-8a28-290f7d580275\scratchpad\ppt\icons\LuScissors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4892040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05656" y="4828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剧本与资产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739896" y="5248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 · 出图 · 变体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217920" y="47091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19" name="Image 2" descr="C:\Users\32364\AppData\Local\Temp\claude\E--Kaifa-Qiji-qiji\cb27863a-624a-4b93-8a28-290f7d580275\scratchpad\ppt\icons\LuFilm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489204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03136" y="4828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分镜到成片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37376" y="5248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 · 垫图 · 生成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915400" y="47091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1F2333"/>
          </a:solidFill>
          <a:ln w="9525">
            <a:solidFill>
              <a:srgbClr val="343A52"/>
            </a:solidFill>
            <a:prstDash val="solid"/>
          </a:ln>
        </p:spPr>
      </p:sp>
      <p:pic>
        <p:nvPicPr>
          <p:cNvPr id="23" name="Image 3" descr="C:\Users\32364\AppData\Local\Temp\claude\E--Kaifa-Qiji-qiji\cb27863a-624a-4b93-8a28-290f7d580275\scratchpad\ppt\icons\LuWorkflow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568" y="489204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500616" y="4828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进阶预告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9134856" y="5248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 · 协作 · 答疑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5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配套资料：《用户教程 · 问答版》《用户教程 · 实战版》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COURSE GOALS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这节课你将学会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ListCheck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63040"/>
            <a:ext cx="3544824" cy="2286000"/>
          </a:xfrm>
          <a:prstGeom prst="roundRect">
            <a:avLst>
              <a:gd name="adj" fmla="val 3200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6642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C:\Users\32364\AppData\Local\Temp\claude\E--Kaifa-Qiji-qiji\cb27863a-624a-4b93-8a28-290f7d580275\scratchpad\ppt\icons\LuRocket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77393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35024" y="1645920"/>
            <a:ext cx="2584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跑通主流程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68096" y="2194560"/>
            <a:ext cx="310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 建项目 → 拆剧本 → 出资产 → 推分镜 → 出图出片 → 导出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22064" y="1463040"/>
            <a:ext cx="3544824" cy="2286000"/>
          </a:xfrm>
          <a:prstGeom prst="roundRect">
            <a:avLst>
              <a:gd name="adj" fmla="val 3200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23232" y="16642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C:\Users\32364\AppData\Local\Temp\claude\E--Kaifa-Qiji-qiji\cb27863a-624a-4b93-8a28-290f7d580275\scratchpad\ppt\icons\LuLink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0" y="177393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08448" y="1645920"/>
            <a:ext cx="2584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用对垫图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41520" y="2194560"/>
            <a:ext cx="310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理解素材匹配与图例机制，让 AI 知道每张垫图是谁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095488" y="1463040"/>
            <a:ext cx="3544824" cy="2286000"/>
          </a:xfrm>
          <a:prstGeom prst="roundRect">
            <a:avLst>
              <a:gd name="adj" fmla="val 3200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96656" y="16642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C:\Users\32364\AppData\Local\Temp\claude\E--Kaifa-Qiji-qiji\cb27863a-624a-4b93-8a28-290f7d580275\scratchpad\ppt\icons\LuWrench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384" y="177393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81872" y="1645920"/>
            <a:ext cx="2584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会返工会求助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314944" y="2194560"/>
            <a:ext cx="310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单镜重推、历史回退、超分修复，遇到报错知道找谁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5486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课前准备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548640" y="4480560"/>
            <a:ext cx="274320" cy="274320"/>
          </a:xfrm>
          <a:prstGeom prst="ellipse">
            <a:avLst/>
          </a:prstGeom>
          <a:solidFill>
            <a:srgbClr val="EAF7F1"/>
          </a:solidFill>
          <a:ln/>
        </p:spPr>
      </p:sp>
      <p:pic>
        <p:nvPicPr>
          <p:cNvPr id="25" name="Image 4" descr="C:\Users\32364\AppData\Local\Temp\claude\E--Kaifa-Qiji-qiji\cb27863a-624a-4b93-8a28-290f7d580275\scratchpad\ppt\icons\Lu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" y="4530852"/>
            <a:ext cx="173736" cy="1737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9264" y="4443984"/>
            <a:ext cx="5614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已安装软件，拿到激活码（未注册）或账号密码（已注册）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48640" y="4937760"/>
            <a:ext cx="274320" cy="274320"/>
          </a:xfrm>
          <a:prstGeom prst="ellipse">
            <a:avLst/>
          </a:prstGeom>
          <a:solidFill>
            <a:srgbClr val="EAF7F1"/>
          </a:solidFill>
          <a:ln/>
        </p:spPr>
      </p:sp>
      <p:pic>
        <p:nvPicPr>
          <p:cNvPr id="28" name="Image 5" descr="C:\Users\32364\AppData\Local\Temp\claude\E--Kaifa-Qiji-qiji\cb27863a-624a-4b93-8a28-290f7d580275\scratchpad\ppt\icons\LuCheck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" y="4988052"/>
            <a:ext cx="173736" cy="17373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69264" y="4901184"/>
            <a:ext cx="5614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账号内有足够积分（本课全流程约消耗数百积分）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548640" y="5394960"/>
            <a:ext cx="274320" cy="274320"/>
          </a:xfrm>
          <a:prstGeom prst="ellipse">
            <a:avLst/>
          </a:prstGeom>
          <a:solidFill>
            <a:srgbClr val="EAF7F1"/>
          </a:solidFill>
          <a:ln/>
        </p:spPr>
      </p:sp>
      <p:pic>
        <p:nvPicPr>
          <p:cNvPr id="31" name="Image 6" descr="C:\Users\32364\AppData\Local\Temp\claude\E--Kaifa-Qiji-qiji\cb27863a-624a-4b93-8a28-290f7d580275\scratchpad\ppt\icons\LuCheck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" y="5445252"/>
            <a:ext cx="173736" cy="17373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69264" y="5358384"/>
            <a:ext cx="5614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准备一部 3000 字以内的短篇小说作为练习素材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548640" y="5852160"/>
            <a:ext cx="274320" cy="274320"/>
          </a:xfrm>
          <a:prstGeom prst="ellipse">
            <a:avLst/>
          </a:prstGeom>
          <a:solidFill>
            <a:srgbClr val="EAF7F1"/>
          </a:solidFill>
          <a:ln/>
        </p:spPr>
      </p:sp>
      <p:pic>
        <p:nvPicPr>
          <p:cNvPr id="34" name="Image 7" descr="C:\Users\32364\AppData\Local\Temp\claude\E--Kaifa-Qiji-qiji\cb27863a-624a-4b93-8a28-290f7d580275\scratchpad\ppt\icons\LuCheck_gre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932" y="5902452"/>
            <a:ext cx="173736" cy="17373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69264" y="5815584"/>
            <a:ext cx="5614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确认网络通畅（生成任务需要连接服务器）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6949440" y="4434840"/>
            <a:ext cx="4690872" cy="1783080"/>
          </a:xfrm>
          <a:prstGeom prst="roundRect">
            <a:avLst>
              <a:gd name="adj" fmla="val 4103"/>
            </a:avLst>
          </a:prstGeom>
          <a:solidFill>
            <a:srgbClr val="F1EFFC"/>
          </a:solidFill>
          <a:ln/>
        </p:spPr>
      </p:sp>
      <p:pic>
        <p:nvPicPr>
          <p:cNvPr id="37" name="Image 8" descr="C:\Users\32364\AppData\Local\Temp\claude\E--Kaifa-Qiji-qiji\cb27863a-624a-4b93-8a28-290f7d580275\scratchpad\ppt\icons\LuLightbulb_purp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0608" y="4617720"/>
            <a:ext cx="274320" cy="27432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516368" y="4544568"/>
            <a:ext cx="391363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讲师提示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本课件所有「截图占位」处请提前替换为你部署环境的真机截图；涉及价格、模型档位处以现场环境为准。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先认识五个区域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Monitor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463040"/>
            <a:ext cx="7315200" cy="4663440"/>
          </a:xfrm>
          <a:prstGeom prst="roundRect">
            <a:avLst>
              <a:gd name="adj" fmla="val 176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9" name="Image 1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216" y="331927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75818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截图占位：软件主界面全景（进入项目后）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22960" y="40873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183880" y="1481328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9"/>
          <p:cNvSpPr/>
          <p:nvPr/>
        </p:nvSpPr>
        <p:spPr>
          <a:xfrm>
            <a:off x="8183880" y="147401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641080" y="14447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大厅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641080" y="171907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项目列表与新建项目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83880" y="241401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3"/>
          <p:cNvSpPr/>
          <p:nvPr/>
        </p:nvSpPr>
        <p:spPr>
          <a:xfrm>
            <a:off x="8183880" y="24067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641080" y="2377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标题栏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8641080" y="26517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表格/画布切换、个人中心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83880" y="3346704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1" name="Text 17"/>
          <p:cNvSpPr/>
          <p:nvPr/>
        </p:nvSpPr>
        <p:spPr>
          <a:xfrm>
            <a:off x="8183880" y="333938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641080" y="33101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左侧边栏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8641080" y="35844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剧本、五类资产、视频界面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183880" y="4279392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5" name="Text 21"/>
          <p:cNvSpPr/>
          <p:nvPr/>
        </p:nvSpPr>
        <p:spPr>
          <a:xfrm>
            <a:off x="8183880" y="427207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641080" y="42428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右侧停靠栏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8641080" y="45171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资产助手、简一助手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8183880" y="52120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9" name="Text 25"/>
          <p:cNvSpPr/>
          <p:nvPr/>
        </p:nvSpPr>
        <p:spPr>
          <a:xfrm>
            <a:off x="8183880" y="52047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8641080" y="51755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8641080" y="544982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积分、账单、兑换码、授权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两种创作模式：同一份数据，两个视图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Workflow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08760"/>
            <a:ext cx="5440680" cy="3108960"/>
          </a:xfrm>
          <a:prstGeom prst="roundRect">
            <a:avLst>
              <a:gd name="adj" fmla="val 2941"/>
            </a:avLst>
          </a:prstGeom>
          <a:solidFill>
            <a:srgbClr val="F1EF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C:\Users\32364\AppData\Local\Temp\claude\E--Kaifa-Qiji-qiji\cb27863a-624a-4b93-8a28-290f7d580275\scratchpad\ppt\icons\LuTable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19147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17904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表格创作（资产模式）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59536" y="25146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结构化流水线：剧本 → 资产 → 分镜表格，一步一个界面。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流程清晰、不易迷路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本节课的主战场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1508760"/>
            <a:ext cx="5440680" cy="3108960"/>
          </a:xfrm>
          <a:prstGeom prst="roundRect">
            <a:avLst>
              <a:gd name="adj" fmla="val 2941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92240" y="17830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C:\Users\32364\AppData\Local\Temp\claude\E--Kaifa-Qiji-qiji\cb27863a-624a-4b93-8a28-290f7d580275\scratchpad\ppt\icons\LuWorkflow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914" y="19147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87184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画布创作（画布模式）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528816" y="25146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自由节点画布：所有步骤都是可连线的节点。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适合精修与多方案实验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课程最后做预告，进阶再学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8920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AF7F1"/>
          </a:solidFill>
          <a:ln/>
        </p:spPr>
      </p:sp>
      <p:pic>
        <p:nvPicPr>
          <p:cNvPr id="19" name="Image 3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07492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15568" y="500176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不存在选错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两个模式随时在顶部标题栏切换，底层是同一份项目数据。新手先用表格模式跑通全流程，再进阶画布。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8B7CF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058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B7CF7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准备工作：账号与项目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注册登录 → 认识个人中心 → 建好第一个项目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注册与登录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账号三规则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新建项目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01 部分 · 准备工作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注册账号：一枚激活码开始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KeyRound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登录页切到「注册」标签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首次使用需要服务商发放的激活码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542032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5347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505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填写四项信息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779776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自定义账号、密码、用户名（昵称，可中文，可留空）、激活码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29584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5222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4930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点「注册并登录」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767328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直接进入软件大厅，之后用账号密码登录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75488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DF3E2"/>
          </a:solidFill>
          <a:ln/>
        </p:spPr>
      </p:sp>
      <p:pic>
        <p:nvPicPr>
          <p:cNvPr id="21" name="Image 1" descr="C:\Users\32364\AppData\Local\Temp\claude\E--Kaifa-Qiji-qiji\cb27863a-624a-4b93-8a28-290f7d580275\scratchpad\ppt\icons\LuTriangleAler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93776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15568" y="4864608"/>
            <a:ext cx="4526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注册即绑定本机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账号与这台电脑绑定，换电脑登录会被拦截；需要换机时联系管理员解绑。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309360" y="1554480"/>
            <a:ext cx="533095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4" name="Image 2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2" y="327355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37124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截图占位：登录页 · 注册标签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583680" y="404164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01 部分 · 准备工作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账号三条规则，先讲清楚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ShieldCheck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544824" cy="3017520"/>
          </a:xfrm>
          <a:prstGeom prst="roundRect">
            <a:avLst>
              <a:gd name="adj" fmla="val 2424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75564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C:\Users\32364\AppData\Local\Temp\claude\E--Kaifa-Qiji-qiji\cb27863a-624a-4b93-8a28-290f7d580275\scratchpad\ppt\icons\LuMonitor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25" y="1869765"/>
            <a:ext cx="247254" cy="2472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1737360"/>
            <a:ext cx="2566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机器码绑定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68096" y="2304288"/>
            <a:ext cx="31059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注册那台电脑就是你的工作机。换电脑登录会被拦截，联系管理员解绑后才能迁移。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22064" y="1554480"/>
            <a:ext cx="3544824" cy="3017520"/>
          </a:xfrm>
          <a:prstGeom prst="roundRect">
            <a:avLst>
              <a:gd name="adj" fmla="val 2424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23232" y="175564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C:\Users\32364\AppData\Local\Temp\claude\E--Kaifa-Qiji-qiji\cb27863a-624a-4b93-8a28-290f7d580275\scratchpad\ppt\icons\LuTimer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349" y="1869765"/>
            <a:ext cx="247254" cy="2472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26736" y="1737360"/>
            <a:ext cx="2566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有效期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41520" y="2304288"/>
            <a:ext cx="31059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激活码分 1 天 / 3 天 / 30 天 / 永久，从注册起算。到期后可登录查看项目，但不能生成，需联系服务商续期。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095488" y="1554480"/>
            <a:ext cx="3544824" cy="3017520"/>
          </a:xfrm>
          <a:prstGeom prst="roundRect">
            <a:avLst>
              <a:gd name="adj" fmla="val 2424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96656" y="175564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C:\Users\32364\AppData\Local\Temp\claude\E--Kaifa-Qiji-qiji\cb27863a-624a-4b93-8a28-290f7d580275\scratchpad\ppt\icons\LuKeyRound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773" y="1869765"/>
            <a:ext cx="247254" cy="24725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00160" y="1737360"/>
            <a:ext cx="2566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忘记密码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314944" y="2304288"/>
            <a:ext cx="31059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没有自助找回。联系服务商解绑账号后，用原激活码重新注册、重设密码即可，项目数据不受影响。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484632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AF7F1"/>
          </a:solidFill>
          <a:ln/>
        </p:spPr>
      </p:sp>
      <p:pic>
        <p:nvPicPr>
          <p:cNvPr id="24" name="Image 4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02920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15568" y="495604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记住一句话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账号问题（换机、续期、改密）都找服务商；软件内解决不了这三件事。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01 部分 · 准备工作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个人中心：钱包和账单都在这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Wallet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2953512" cy="1993392"/>
          </a:xfrm>
          <a:prstGeom prst="roundRect">
            <a:avLst>
              <a:gd name="adj" fmla="val 3670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75564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C:\Users\32364\AppData\Local\Temp\claude\E--Kaifa-Qiji-qiji\cb27863a-624a-4b93-8a28-290f7d580275\scratchpad\ppt\icons\LuCoins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47" y="1860987"/>
            <a:ext cx="228234" cy="2282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16736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积分余额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68096" y="226771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概览页看余额与总消耗；生成按钮旁的角标显示预估费用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721608" y="1554480"/>
            <a:ext cx="2953512" cy="1993392"/>
          </a:xfrm>
          <a:prstGeom prst="roundRect">
            <a:avLst>
              <a:gd name="adj" fmla="val 3670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922776" y="175564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C:\Users\32364\AppData\Local\Temp\claude\E--Kaifa-Qiji-qiji\cb27863a-624a-4b93-8a28-290f7d580275\scratchpad\ppt\icons\LuHistory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115" y="1860987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89704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请求记录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3941064" y="226771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每笔生成的时间、模型、扣分、状态；失败自动退款并标注「已退还」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767328"/>
            <a:ext cx="2953512" cy="1993392"/>
          </a:xfrm>
          <a:prstGeom prst="roundRect">
            <a:avLst>
              <a:gd name="adj" fmla="val 3670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96849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C:\Users\32364\AppData\Local\Temp\claude\E--Kaifa-Qiji-qiji\cb27863a-624a-4b93-8a28-290f7d580275\scratchpad\ppt\icons\LuWallet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147" y="4073835"/>
            <a:ext cx="228234" cy="22823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16736" y="39502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兑换码充值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68096" y="44805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输入服务商发放的兑换码即到账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721608" y="3767328"/>
            <a:ext cx="2953512" cy="1993392"/>
          </a:xfrm>
          <a:prstGeom prst="roundRect">
            <a:avLst>
              <a:gd name="adj" fmla="val 3670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922776" y="396849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C:\Users\32364\AppData\Local\Temp\claude\E--Kaifa-Qiji-qiji\cb27863a-624a-4b93-8a28-290f7d580275\scratchpad\ppt\icons\LuPlug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8115" y="4073835"/>
            <a:ext cx="228234" cy="22823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489704" y="39502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第三方授权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3941064" y="44805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即梦 / LibTV 的连接入口（进阶课讲）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903720" y="1554480"/>
            <a:ext cx="4736592" cy="4206240"/>
          </a:xfrm>
          <a:prstGeom prst="roundRect">
            <a:avLst>
              <a:gd name="adj" fmla="val 1957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9" name="Image 5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2" y="3182112"/>
            <a:ext cx="384048" cy="38404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78040" y="3621024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截图占位：个人中心 · 概览页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7178040" y="3950208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01 部分 · 准备工作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 ①：新建项目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FolderPlu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大厅 →「新建项目」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填项目名，封面可选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4688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4615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432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选择画风预设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7066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国漫 / 2D 手绘 / 写实等，决定全项目画面风格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3759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3467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点「表格创作」进入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6210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本课全程使用表格模式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52628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DEEEE"/>
          </a:solidFill>
          <a:ln/>
        </p:spPr>
      </p:sp>
      <p:pic>
        <p:nvPicPr>
          <p:cNvPr id="21" name="Image 1" descr="C:\Users\32364\AppData\Local\Temp\claude\E--Kaifa-Qiji-qiji\cb27863a-624a-4b93-8a28-290f7d580275\scratchpad\ppt\icons\LuCircleAlert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70916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15568" y="4636008"/>
            <a:ext cx="4526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画风要想清楚再选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画风是全项目的风格锚点，所有资产和分镜出图都继承它。中途更换意味着已出的图风格不统一，返工成本很高。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309360" y="1554480"/>
            <a:ext cx="533095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4" name="Image 2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2" y="327355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37124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截图占位：新建项目页 · 画风预设选择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583680" y="404164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8B7CF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058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B7CF7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剧本与资产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两键拆完剧本 → 五类资产出图 → 变体与音色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剧集/资产拆分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基础形象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造型变体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绑定音色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02 部分 · 剧本与资产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 ②：放入剧本，两键拆分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Scissor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剧本编辑页粘贴小说全文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整部作品直接贴入正文区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578608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5712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5420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点「剧集拆分」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816352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把全文拆成一集一集（方式选择见下一页）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602736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5954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566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点「资产拆分」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840480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流式提取五类资产，计数实时上涨；完成后检查「项目视觉圣经」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89204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EAF7F1"/>
          </a:solidFill>
          <a:ln/>
        </p:spPr>
      </p:sp>
      <p:pic>
        <p:nvPicPr>
          <p:cNvPr id="21" name="Image 1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07492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15568" y="5001768"/>
            <a:ext cx="4526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两个按钮相互独立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都要点，顺序不限。资产提取是边拆边入库，不用干等。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309360" y="1554480"/>
            <a:ext cx="533095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4" name="Image 2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2" y="327355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37124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截图占位：剧本编辑页 · 拆分按钮与资产计数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583680" y="404164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02 部分 · 剧本与资产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剧集拆分：五种方式怎么选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Split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165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适用文本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智能分集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无明显分隔标记的原始小说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按剧情节奏分集，最省心（耗积分）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空行拆分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段落间已用空行分隔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一个空行块一集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n-1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想把全文合并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全文归一集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n-n（默认）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已按章节 / 集分好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一段一集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场n-n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剧本带「场」字标记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按场次分集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7091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DEEEE"/>
          </a:solidFill>
          <a:ln/>
        </p:spPr>
      </p:sp>
      <p:pic>
        <p:nvPicPr>
          <p:cNvPr id="10" name="Image 1" descr="C:\Users\32364\AppData\Local\Temp\claude\E--Kaifa-Qiji-qiji\cb27863a-624a-4b93-8a28-290f7d580275\scratchpad\ppt\icons\LuCircleAlert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8920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5568" y="4818888"/>
            <a:ext cx="103144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重拆会覆盖成果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已经做了分镜再点「剧集拆分」，会弹确认框提示覆盖全部分镜（含推理结果、故事板图、视频引用），确认后不可恢复。分集结构尽量在做分镜前定稿；后期微调用视频界面的「上拆 / 下拆」。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02 部分 · 剧本与资产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资产拆分给了你什么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User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1EFFC"/>
          </a:solidFill>
          <a:ln w="9525">
            <a:solidFill>
              <a:srgbClr val="E4E2F0"/>
            </a:solidFill>
            <a:prstDash val="solid"/>
          </a:ln>
        </p:spPr>
      </p:sp>
      <p:pic>
        <p:nvPicPr>
          <p:cNvPr id="9" name="Image 1" descr="C:\Users\32364\AppData\Local\Temp\claude\E--Kaifa-Qiji-qiji\cb27863a-624a-4b93-8a28-290f7d580275\scratchpad\ppt\icons\LuUser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105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C / 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843784" y="155448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1EFFC"/>
          </a:solidFill>
          <a:ln w="9525">
            <a:solidFill>
              <a:srgbClr val="E4E2F0"/>
            </a:solidFill>
            <a:prstDash val="solid"/>
          </a:ln>
        </p:spPr>
      </p:sp>
      <p:pic>
        <p:nvPicPr>
          <p:cNvPr id="12" name="Image 2" descr="C:\Users\32364\AppData\Local\Temp\claude\E--Kaifa-Qiji-qiji\cb27863a-624a-4b93-8a28-290f7d580275\scratchpad\ppt\icons\LuUsers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181051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47288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群像 G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138928" y="155448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1EFFC"/>
          </a:solidFill>
          <a:ln w="9525">
            <a:solidFill>
              <a:srgbClr val="E4E2F0"/>
            </a:solidFill>
            <a:prstDash val="solid"/>
          </a:ln>
        </p:spPr>
      </p:sp>
      <p:pic>
        <p:nvPicPr>
          <p:cNvPr id="15" name="Image 3" descr="C:\Users\32364\AppData\Local\Temp\claude\E--Kaifa-Qiji-qiji\cb27863a-624a-4b93-8a28-290f7d580275\scratchpad\ppt\icons\LuImage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181051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42432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434072" y="155448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1EFFC"/>
          </a:solidFill>
          <a:ln w="9525">
            <a:solidFill>
              <a:srgbClr val="E4E2F0"/>
            </a:solidFill>
            <a:prstDash val="solid"/>
          </a:ln>
        </p:spPr>
      </p:sp>
      <p:pic>
        <p:nvPicPr>
          <p:cNvPr id="18" name="Image 4" descr="C:\Users\32364\AppData\Local\Temp\claude\E--Kaifa-Qiji-qiji\cb27863a-624a-4b93-8a28-290f7d580275\scratchpad\ppt\icons\LuPuzzle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810512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037576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生物 M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9729216" y="155448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1EFFC"/>
          </a:solidFill>
          <a:ln w="9525">
            <a:solidFill>
              <a:srgbClr val="E4E2F0"/>
            </a:solidFill>
            <a:prstDash val="solid"/>
          </a:ln>
        </p:spPr>
      </p:sp>
      <p:pic>
        <p:nvPicPr>
          <p:cNvPr id="21" name="Image 5" descr="C:\Users\32364\AppData\Local\Temp\claude\E--Kaifa-Qiji-qiji\cb27863a-624a-4b93-8a28-290f7d580275\scratchpad\ppt\icons\LuFolderOpen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0384" y="1810512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332720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物品 P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548640" y="2697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4" name="Text 16"/>
          <p:cNvSpPr/>
          <p:nvPr/>
        </p:nvSpPr>
        <p:spPr>
          <a:xfrm>
            <a:off x="548640" y="2690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1005840" y="2660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每个资产自带整段出图提示词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1005840" y="29352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根据剧本写好外貌/氛围描述，可直接生成或先微调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548640" y="36576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8" name="Text 20"/>
          <p:cNvSpPr/>
          <p:nvPr/>
        </p:nvSpPr>
        <p:spPr>
          <a:xfrm>
            <a:off x="548640" y="36502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005840" y="3621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项目视觉圣经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1005840" y="389534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全项目统一的风格与色调描述，所有出图自动继承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548640" y="461772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32" name="Text 24"/>
          <p:cNvSpPr/>
          <p:nvPr/>
        </p:nvSpPr>
        <p:spPr>
          <a:xfrm>
            <a:off x="548640" y="46104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005840" y="4581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自动分流到五个页面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1005840" y="485546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左侧边栏对应入口，编号规则：C01、C01A（变体）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309360" y="2697480"/>
            <a:ext cx="5330952" cy="3246120"/>
          </a:xfrm>
          <a:prstGeom prst="roundRect">
            <a:avLst>
              <a:gd name="adj" fmla="val 253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36" name="Image 6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2812" y="3845052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583680" y="42839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截图占位：角色资产页 · 拆分后的资产卡列表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583680" y="461314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02 部分 · 剧本与资产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 ③：生成基础形象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Image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读一遍提示词，按需微调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外貌细节、服装、配色补充到提示词里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4688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4615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432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点生成，不满意就再点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7066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历史图全部保留，点历史条随时换主图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3759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3467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也可以上传本地图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6210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已有设定图可直接作为资产形象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5262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EAF7F1"/>
          </a:solidFill>
          <a:ln/>
        </p:spPr>
      </p:sp>
      <p:pic>
        <p:nvPicPr>
          <p:cNvPr id="21" name="Image 1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70916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15568" y="4636008"/>
            <a:ext cx="4526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定稿值得多花时间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基础形象是后续所有变体和分镜垫图的底图——底图越稳，整部片的一致性越好。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309360" y="1554480"/>
            <a:ext cx="533095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4" name="Image 2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2" y="327355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37124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截图占位：资产卡 · 生成按钮与主图/历史条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583680" y="404164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02 部分 · 剧本与资产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出图顺序：先出谁，后出谁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ListCheck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45920"/>
            <a:ext cx="2539746" cy="1051560"/>
          </a:xfrm>
          <a:prstGeom prst="roundRect">
            <a:avLst>
              <a:gd name="adj" fmla="val 6957"/>
            </a:avLst>
          </a:prstGeom>
          <a:solidFill>
            <a:srgbClr val="8B7CF7"/>
          </a:solidFill>
          <a:ln/>
        </p:spPr>
      </p:sp>
      <p:pic>
        <p:nvPicPr>
          <p:cNvPr id="9" name="Image 1" descr="C:\Users\32364\AppData\Local\Temp\claude\E--Kaifa-Qiji-qiji\cb27863a-624a-4b93-8a28-290f7d580275\scratchpad\ppt\icons\LuUs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209" y="179222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2103120"/>
            <a:ext cx="24483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主角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070098" y="1645920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399282" y="1645920"/>
            <a:ext cx="2539746" cy="1051560"/>
          </a:xfrm>
          <a:prstGeom prst="roundRect">
            <a:avLst>
              <a:gd name="adj" fmla="val 6957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pic>
        <p:nvPicPr>
          <p:cNvPr id="13" name="Image 2" descr="C:\Users\32364\AppData\Local\Temp\claude\E--Kaifa-Qiji-qiji\cb27863a-624a-4b93-8a28-290f7d580275\scratchpad\ppt\icons\LuImag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851" y="179222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5002" y="2103120"/>
            <a:ext cx="24483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主场景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920740" y="1645920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49924" y="1645920"/>
            <a:ext cx="2539746" cy="1051560"/>
          </a:xfrm>
          <a:prstGeom prst="roundRect">
            <a:avLst>
              <a:gd name="adj" fmla="val 6957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pic>
        <p:nvPicPr>
          <p:cNvPr id="17" name="Image 3" descr="C:\Users\32364\AppData\Local\Temp\claude\E--Kaifa-Qiji-qiji\cb27863a-624a-4b93-8a28-290f7d580275\scratchpad\ppt\icons\LuFolderOpen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493" y="179222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95644" y="2103120"/>
            <a:ext cx="24483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高频道具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8771382" y="1645920"/>
            <a:ext cx="347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9100566" y="1645920"/>
            <a:ext cx="2539746" cy="1051560"/>
          </a:xfrm>
          <a:prstGeom prst="roundRect">
            <a:avLst>
              <a:gd name="adj" fmla="val 6957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pic>
        <p:nvPicPr>
          <p:cNvPr id="21" name="Image 4" descr="C:\Users\32364\AppData\Local\Temp\claude\E--Kaifa-Qiji-qiji\cb27863a-624a-4b93-8a28-290f7d580275\scratchpad\ppt\icons\LuUsers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135" y="1792224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46286" y="2103120"/>
            <a:ext cx="24483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配角按需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548640" y="3108960"/>
            <a:ext cx="5431536" cy="2651760"/>
          </a:xfrm>
          <a:prstGeom prst="roundRect">
            <a:avLst>
              <a:gd name="adj" fmla="val 2759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49808" y="331012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5" descr="C:\Users\32364\AppData\Local\Temp\claude\E--Kaifa-Qiji-qiji\cb27863a-624a-4b93-8a28-290f7d580275\scratchpad\ppt\icons\LuLightbulb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147" y="3415467"/>
            <a:ext cx="228234" cy="22823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16736" y="3291840"/>
            <a:ext cx="4489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不必一次出完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768096" y="3822192"/>
            <a:ext cx="499262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分镜里用到谁再补谁。资产随时可以回来补充生成，不阻塞后面的流程。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208776" y="3108960"/>
            <a:ext cx="5431536" cy="2651760"/>
          </a:xfrm>
          <a:prstGeom prst="roundRect">
            <a:avLst>
              <a:gd name="adj" fmla="val 2759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409944" y="331012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C:\Users\32364\AppData\Local\Temp\claude\E--Kaifa-Qiji-qiji\cb27863a-624a-4b93-8a28-290f7d580275\scratchpad\ppt\icons\LuStar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283" y="3415467"/>
            <a:ext cx="228234" cy="22823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76872" y="3291840"/>
            <a:ext cx="4489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 = 出场率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6428232" y="3822192"/>
            <a:ext cx="499262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主角和主场景几乎每个镜头都在，是画面一致性的根基；路人和一次性道具可以最后处理甚至不出。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02 部分 · 剧本与资产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造型变体：战损、换装不穿帮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Layer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在角色卡点「生成造型变体」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输入变化描述，例：「战损：衣衫破损、面部血污」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542032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5347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5054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以基础形象为底做图生图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779776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锁定角色 DNA（脸型发色体态），只改你指定的项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529584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5222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4930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在分镜里指定造型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767328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资产助手 → 右击角色卡 → 选中目标造型，之后匹配素材垫的就是它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80060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FDF3E2"/>
          </a:solidFill>
          <a:ln/>
        </p:spPr>
      </p:sp>
      <p:pic>
        <p:nvPicPr>
          <p:cNvPr id="21" name="Image 1" descr="C:\Users\32364\AppData\Local\Temp\claude\E--Kaifa-Qiji-qiji\cb27863a-624a-4b93-8a28-290f7d580275\scratchpad\ppt\icons\LuTriangleAler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98348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15568" y="4910328"/>
            <a:ext cx="4526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用完记得切回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该集做完把选中造型切回默认，避免下一集误用战损形态。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309360" y="1554480"/>
            <a:ext cx="533095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4" name="Image 2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2" y="327355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37124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截图占位：角色卡 · 造型变体列表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583680" y="404164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02 部分 · 剧本与资产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绑定音色：让角色有自己的声音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Mic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角色卡上传一段音频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该角色的声音参考（配音样本、参考音色均可）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5146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5072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478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之后全自动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75234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任何分镜匹配到该角色，音频自动跟着垫图进素材区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47472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674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438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图例自动配对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71246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提示词写明「@ImageN的声音参考@AudioM」，支持音频参考的视频模型自动对齐声线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61772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EAF7F1"/>
          </a:solidFill>
          <a:ln/>
        </p:spPr>
      </p:sp>
      <p:pic>
        <p:nvPicPr>
          <p:cNvPr id="21" name="Image 1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80060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15568" y="4727448"/>
            <a:ext cx="4526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在哪试听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资产助手里绑了音色的卡片右下角有音频角标，点击即可试听。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309360" y="1554480"/>
            <a:ext cx="533095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4" name="Image 2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2" y="327355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37124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截图占位：角色卡 · 绑定音色入口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583680" y="404164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8B7CF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058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B7CF7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分镜到成片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智能推理 → 匹配素材 → 故事板图 → 视频 → 精修导出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智能推理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匹配素材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故事板图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视频与精修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03 部分 · 分镜到成片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 ④：整集智能推理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Sparkle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视频界面选「第 1 集」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左侧分集列表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5146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5072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478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点「智能推理」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75234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把整集拆成分镜，每镜产出：原文 + 故事板提示词 + 视频提示词 + 建议时长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47472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674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438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通读一遍，重点看前 3 镜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71246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开头镜头决定整集观感，值得多花检查时间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309360" y="1554480"/>
            <a:ext cx="533095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1" name="Image 1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812" y="3273552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83680" y="37124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截图占位：视频界面 · 智能推理完成后的分镜表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583680" y="404164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48640" y="46634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EAF7F1"/>
          </a:solidFill>
          <a:ln/>
        </p:spPr>
      </p:sp>
      <p:pic>
        <p:nvPicPr>
          <p:cNvPr id="25" name="Image 2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84632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15568" y="4773168"/>
            <a:ext cx="45262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推理是流式的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分镜逐条出现，先出来的可以先检查；中途关软件任务不丢。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03 部分 · 分镜到成片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三种推理方式与返工手段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RefreshCw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7764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什么时候用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智能推理（整集）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全部分镜 + 两套提示词 + 时长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每集的第一遍，主力用法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智能拆分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只拆原文，不写提示词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想完全自己写提示词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单镜推理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重跑单个分镜（自动参考上下镜）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个别镜头返工，保上下文连贯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一键推理所有单镜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逐镜批量单推理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整集按单镜上下文重写一遍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251960"/>
            <a:ext cx="5431536" cy="1600200"/>
          </a:xfrm>
          <a:prstGeom prst="roundRect">
            <a:avLst>
              <a:gd name="adj" fmla="val 4571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9808" y="445312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C:\Users\32364\AppData\Local\Temp\claude\E--Kaifa-Qiji-qiji\cb27863a-624a-4b93-8a28-290f7d580275\scratchpad\ppt\icons\LuPenLine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69" y="4549689"/>
            <a:ext cx="209215" cy="2092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44348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原文可直接编辑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768096" y="4928616"/>
            <a:ext cx="49926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改完原文再单镜推理，就按新原文出卡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208776" y="4251960"/>
            <a:ext cx="5431536" cy="1600200"/>
          </a:xfrm>
          <a:prstGeom prst="roundRect">
            <a:avLst>
              <a:gd name="adj" fmla="val 4571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09944" y="445312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C:\Users\32364\AppData\Local\Temp\claude\E--Kaifa-Qiji-qiji\cb27863a-624a-4b93-8a28-290f7d580275\scratchpad\ppt\icons\LuSpli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505" y="4549689"/>
            <a:ext cx="209215" cy="209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40296" y="443484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上拆 / 下拆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428232" y="4928616"/>
            <a:ext cx="49926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把本镜原文的首/末行移给相邻分镜，调节奏比重新推理快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03 部分 · 分镜到成片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 ⑤：提取资产（匹配素材）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Link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点「提取资产」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系统扫描各分镜原文与提示词，按名称匹配项目资产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5146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5072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478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命中的资产自动垫图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75234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资产图进素材区，绑定音色的角色音频一并加入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47472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674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438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抽查几个分镜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71246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垫图齐不齐、造型对不对；缺的从资产助手拖入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617720"/>
            <a:ext cx="5303520" cy="1280160"/>
          </a:xfrm>
          <a:prstGeom prst="roundRect">
            <a:avLst>
              <a:gd name="adj" fmla="val 6429"/>
            </a:avLst>
          </a:prstGeom>
          <a:solidFill>
            <a:srgbClr val="F3F4F8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提示词顶部自动出现图例：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724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【素材图例】</a:t>
            </a:r>
            <a:pPr indent="0" marL="0">
              <a:buNone/>
            </a:pPr>
            <a:r>
              <a:rPr lang="en-US" sz="1150" b="1" dirty="0">
                <a:solidFill>
                  <a:srgbClr val="3FB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@Image1 </a:t>
            </a:r>
            <a:pPr indent="0" marL="0">
              <a:buNone/>
            </a:pPr>
            <a:r>
              <a:rPr lang="en-US" sz="1150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张三，</a:t>
            </a:r>
            <a:pPr indent="0" marL="0">
              <a:buNone/>
            </a:pPr>
            <a:r>
              <a:rPr lang="en-US" sz="1150" b="1" dirty="0">
                <a:solidFill>
                  <a:srgbClr val="3FB0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@Image1</a:t>
            </a:r>
            <a:pPr indent="0" marL="0">
              <a:buNone/>
            </a:pPr>
            <a:r>
              <a:rPr lang="en-US" sz="1150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的声音参考</a:t>
            </a:r>
            <a:pPr indent="0" marL="0"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@Audio1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309360" y="1554480"/>
            <a:ext cx="533095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4" name="Image 1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812" y="3273552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583680" y="37124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截图占位：分镜行 · 素材区与图例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583680" y="404164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03 部分 · 分镜到成片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素材区还能这样用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FolderOpen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08760"/>
            <a:ext cx="3544824" cy="2926080"/>
          </a:xfrm>
          <a:prstGeom prst="roundRect">
            <a:avLst>
              <a:gd name="adj" fmla="val 2500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70992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C:\Users\32364\AppData\Local\Temp\claude\E--Kaifa-Qiji-qiji\cb27863a-624a-4b93-8a28-290f7d580275\scratchpad\ppt\icons\LuMousePointerClick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47" y="1815267"/>
            <a:ext cx="228234" cy="2282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16736" y="1691640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 精确引用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68096" y="2221992"/>
            <a:ext cx="310591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提示词输入 @ 弹出素材候选（数字 1-9 快选），插入 @Image1 等胶囊精确指定用哪个素材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22064" y="1508760"/>
            <a:ext cx="3544824" cy="2926080"/>
          </a:xfrm>
          <a:prstGeom prst="roundRect">
            <a:avLst>
              <a:gd name="adj" fmla="val 2500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23232" y="170992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C:\Users\32364\AppData\Local\Temp\claude\E--Kaifa-Qiji-qiji\cb27863a-624a-4b93-8a28-290f7d580275\scratchpad\ppt\icons\LuCloudUpload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571" y="1815267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90160" y="1691640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三种添加方式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41520" y="2221992"/>
            <a:ext cx="310591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「＋本地」上传 / 从资产助手拖入 / 跨分镜拖拽复制素材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095488" y="1508760"/>
            <a:ext cx="3544824" cy="2926080"/>
          </a:xfrm>
          <a:prstGeom prst="roundRect">
            <a:avLst>
              <a:gd name="adj" fmla="val 2500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96656" y="170992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C:\Users\32364\AppData\Local\Temp\claude\E--Kaifa-Qiji-qiji\cb27863a-624a-4b93-8a28-290f7d580275\scratchpad\ppt\icons\LuCheck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995" y="1815267"/>
            <a:ext cx="228234" cy="22823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63584" y="1691640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删除自动同步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314944" y="2221992"/>
            <a:ext cx="310591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删素材时图例条目和 @ 编号自动修正，不留残句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46634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AF7F1"/>
          </a:solidFill>
          <a:ln/>
        </p:spPr>
      </p:sp>
      <p:pic>
        <p:nvPicPr>
          <p:cNvPr id="24" name="Image 4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84632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15568" y="4773168"/>
            <a:ext cx="103144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提示词太长？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点提示词框的「放大」按钮进大编辑窗：查找替换（命中高亮）、匹配资产按钮都在里面；「▦ 预设方案」可插入预设胶囊（如 6 宫格故事板），提交时自动展开。关窗默认保存，点「取消」才丢弃。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03 部分 · 分镜到成片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 ⑥：生成故事板图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lapperboard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逐镜点「生成故事板图」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素材区的垫图会作为参考随单发送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5146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5072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478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不满意：改提示词重新生成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75234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生成过的图都在历史条，点击即可回退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47472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674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438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需要更清晰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71246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右击图 →「图像超分」，放大到 2K / 4K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61772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EAF7F1"/>
          </a:solidFill>
          <a:ln/>
        </p:spPr>
      </p:sp>
      <p:pic>
        <p:nvPicPr>
          <p:cNvPr id="21" name="Image 1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80060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15568" y="4727448"/>
            <a:ext cx="4526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故事板的价值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先用便宜的图确认构图与人物，再去生成昂贵的视频——比直接出片省得多。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309360" y="1554480"/>
            <a:ext cx="533095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4" name="Image 2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2" y="327355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37124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截图占位：分镜行 · 故事板图与历史条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583680" y="404164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03 部分 · 分镜到成片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 ⑦：选模型、定参数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Setting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先选「模型源」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服务商模型 / 即梦 / LibTV（后两者需先在个人中心授权）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5146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5072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478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本地渠道再选款式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75234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Seedance 2.0 / Fast / VIP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47472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674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438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确认时长、比例、分辨率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71246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可选档位随所选模型自动切换；设置随项目记住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61772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EAF7F1"/>
          </a:solidFill>
          <a:ln/>
        </p:spPr>
      </p:sp>
      <p:pic>
        <p:nvPicPr>
          <p:cNvPr id="21" name="Image 1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80060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15568" y="4727448"/>
            <a:ext cx="4526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先看价再生成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生成按钮旁的积分角标就是本次预估费用，预估即实扣；余额不足会直接拒单、不扣费。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309360" y="1554480"/>
            <a:ext cx="533095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4" name="Image 2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2" y="327355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37124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截图占位：分镜工具栏 · 模型源与参数下拉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583680" y="404164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03 部分 · 分镜到成片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 ⑧：生成视频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Fil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点「生成视频」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建议勾选带故事板图作首帧，画面走向更可控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5146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5072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478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多镜并行提交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75234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视频生成慢，提交一批后去做别的事效率最高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47472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674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438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耐心等待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71246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生成中关软件没关系：重开项目自动重连任务，失败自动退款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61772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FDF3E2"/>
          </a:solidFill>
          <a:ln/>
        </p:spPr>
      </p:sp>
      <p:pic>
        <p:nvPicPr>
          <p:cNvPr id="21" name="Image 1" descr="C:\Users\32364\AppData\Local\Temp\claude\E--Kaifa-Qiji-qiji\cb27863a-624a-4b93-8a28-290f7d580275\scratchpad\ppt\icons\LuTriangleAler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80060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15568" y="4727448"/>
            <a:ext cx="4526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别反复重复提交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任务在排队不等于失败。转圈时先查「请求记录」确认状态，再决定是否重跑。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309360" y="1554480"/>
            <a:ext cx="533095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4" name="Image 2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2" y="327355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37124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截图占位：分镜行 · 视频生成与历史条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583680" y="404164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03 部分 · 分镜到成片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质量不满意怎么办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Wrench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08760"/>
            <a:ext cx="3544824" cy="2880360"/>
          </a:xfrm>
          <a:prstGeom prst="roundRect">
            <a:avLst>
              <a:gd name="adj" fmla="val 2540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C:\Users\32364\AppData\Local\Temp\claude\E--Kaifa-Qiji-qiji\cb27863a-624a-4b93-8a28-290f7d580275\scratchpad\ppt\icons\LuZoomIn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81965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35024" y="1691640"/>
            <a:ext cx="2584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超分（画质增强）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68096" y="2240280"/>
            <a:ext cx="31059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右击主视频 →「超分」，选档位提交；结果作为派生版本（v1+）进历史条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22064" y="1508760"/>
            <a:ext cx="3544824" cy="2880360"/>
          </a:xfrm>
          <a:prstGeom prst="roundRect">
            <a:avLst>
              <a:gd name="adj" fmla="val 2540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23232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C:\Users\32364\AppData\Local\Temp\claude\E--Kaifa-Qiji-qiji\cb27863a-624a-4b93-8a28-290f7d580275\scratchpad\ppt\icons\LuEraser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0" y="181965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08448" y="1691640"/>
            <a:ext cx="2584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去字幕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41520" y="2240280"/>
            <a:ext cx="31059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右击 →「去字幕」，全屏自动检测或拖框圈定局部；结果标 v1-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095488" y="1508760"/>
            <a:ext cx="3544824" cy="2880360"/>
          </a:xfrm>
          <a:prstGeom prst="roundRect">
            <a:avLst>
              <a:gd name="adj" fmla="val 2540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96656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C:\Users\32364\AppData\Local\Temp\claude\E--Kaifa-Qiji-qiji\cb27863a-624a-4b93-8a28-290f7d580275\scratchpad\ppt\icons\LuHistory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384" y="181965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81872" y="1691640"/>
            <a:ext cx="2584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滑杆对比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314944" y="2240280"/>
            <a:ext cx="31059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右击派生记录 →「对比原视频」，全屏滑杆分割对比，满意再设为主视频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461772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EAF7F1"/>
          </a:solidFill>
          <a:ln/>
        </p:spPr>
      </p:sp>
      <p:pic>
        <p:nvPicPr>
          <p:cNvPr id="24" name="Image 4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80060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15568" y="4727448"/>
            <a:ext cx="103144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根治靠重跑，补救靠后处理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构图、人物错了 → 改提示词/垫图重新生成；只是不够清晰或有字幕 → 用超分/去字幕。分清两类问题能省很多积分。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03 部分 · 分镜到成片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镜头衔接：首尾帧续接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Split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45920"/>
            <a:ext cx="2539746" cy="1005840"/>
          </a:xfrm>
          <a:prstGeom prst="roundRect">
            <a:avLst>
              <a:gd name="adj" fmla="val 7273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pic>
        <p:nvPicPr>
          <p:cNvPr id="9" name="Image 1" descr="C:\Users\32364\AppData\Local\Temp\claude\E--Kaifa-Qiji-qiji\cb27863a-624a-4b93-8a28-290f7d580275\scratchpad\ppt\icons\LuFilm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209" y="179222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2103120"/>
            <a:ext cx="2448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镜头 A 定稿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070098" y="1645920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399282" y="1645920"/>
            <a:ext cx="2539746" cy="1005840"/>
          </a:xfrm>
          <a:prstGeom prst="roundRect">
            <a:avLst>
              <a:gd name="adj" fmla="val 7273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pic>
        <p:nvPicPr>
          <p:cNvPr id="13" name="Image 2" descr="C:\Users\32364\AppData\Local\Temp\claude\E--Kaifa-Qiji-qiji\cb27863a-624a-4b93-8a28-290f7d580275\scratchpad\ppt\icons\LuMousePointerClick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851" y="179222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45002" y="2103120"/>
            <a:ext cx="2448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右击 →「尾帧」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920740" y="1645920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49924" y="1645920"/>
            <a:ext cx="2539746" cy="1005840"/>
          </a:xfrm>
          <a:prstGeom prst="roundRect">
            <a:avLst>
              <a:gd name="adj" fmla="val 7273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pic>
        <p:nvPicPr>
          <p:cNvPr id="17" name="Image 3" descr="C:\Users\32364\AppData\Local\Temp\claude\E--Kaifa-Qiji-qiji\cb27863a-624a-4b93-8a28-290f7d580275\scratchpad\ppt\icons\LuArrowRight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493" y="179222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95644" y="2103120"/>
            <a:ext cx="2448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发送到镜头 B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8771382" y="1645920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9100566" y="1645920"/>
            <a:ext cx="2539746" cy="1005840"/>
          </a:xfrm>
          <a:prstGeom prst="roundRect">
            <a:avLst>
              <a:gd name="adj" fmla="val 7273"/>
            </a:avLst>
          </a:prstGeom>
          <a:solidFill>
            <a:srgbClr val="8B7CF7"/>
          </a:solidFill>
          <a:ln/>
        </p:spPr>
      </p:sp>
      <p:pic>
        <p:nvPicPr>
          <p:cNvPr id="21" name="Image 4" descr="C:\Users\32364\AppData\Local\Temp\claude\E--Kaifa-Qiji-qiji\cb27863a-624a-4b93-8a28-290f7d580275\scratchpad\ppt\icons\LuFilm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135" y="1792224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46286" y="2103120"/>
            <a:ext cx="24483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以它作首帧生成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48640" y="306324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4" name="Text 17"/>
          <p:cNvSpPr/>
          <p:nvPr/>
        </p:nvSpPr>
        <p:spPr>
          <a:xfrm>
            <a:off x="548640" y="30559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005840" y="3026664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连续动作必用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005840" y="3300984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的结束画面 = B 的起始画面，动作无缝续接不跳戏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48640" y="393192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28" name="Text 21"/>
          <p:cNvSpPr/>
          <p:nvPr/>
        </p:nvSpPr>
        <p:spPr>
          <a:xfrm>
            <a:off x="548640" y="39246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005840" y="3895344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「首帧」反向同理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1005840" y="4169664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可以发给上一镜作参考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548640" y="48006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32" name="Text 25"/>
          <p:cNvSpPr/>
          <p:nvPr/>
        </p:nvSpPr>
        <p:spPr>
          <a:xfrm>
            <a:off x="548640" y="47932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1005840" y="4764024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需要中间片段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1005840" y="5038344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右击 →「分段」，拖选起止点裁出 mp4 片段（本地处理，秒出）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03 部分 · 分镜到成片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导出与交付前检查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Download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交付前过一遍清单：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274320" cy="274320"/>
          </a:xfrm>
          <a:prstGeom prst="ellipse">
            <a:avLst/>
          </a:prstGeom>
          <a:solidFill>
            <a:srgbClr val="EAF7F1"/>
          </a:solidFill>
          <a:ln/>
        </p:spPr>
      </p:sp>
      <p:pic>
        <p:nvPicPr>
          <p:cNvPr id="10" name="Image 1" descr="C:\Users\32364\AppData\Local\Temp\claude\E--Kaifa-Qiji-qiji\cb27863a-624a-4b93-8a28-290f7d580275\scratchpad\ppt\icons\Lu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" y="2107692"/>
            <a:ext cx="173736" cy="1737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9264" y="2020824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每个分镜的主视频都是定稿版本（不是旧版）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624328"/>
            <a:ext cx="274320" cy="274320"/>
          </a:xfrm>
          <a:prstGeom prst="ellipse">
            <a:avLst/>
          </a:prstGeom>
          <a:solidFill>
            <a:srgbClr val="EAF7F1"/>
          </a:solidFill>
          <a:ln/>
        </p:spPr>
      </p:sp>
      <p:pic>
        <p:nvPicPr>
          <p:cNvPr id="13" name="Image 2" descr="C:\Users\32364\AppData\Local\Temp\claude\E--Kaifa-Qiji-qiji\cb27863a-624a-4b93-8a28-290f7d580275\scratchpad\ppt\icons\Lu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267462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9264" y="2587752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相邻镜头衔接自然（必要处已用首尾帧续接）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191256"/>
            <a:ext cx="274320" cy="274320"/>
          </a:xfrm>
          <a:prstGeom prst="ellipse">
            <a:avLst/>
          </a:prstGeom>
          <a:solidFill>
            <a:srgbClr val="EAF7F1"/>
          </a:solidFill>
          <a:ln/>
        </p:spPr>
      </p:sp>
      <p:pic>
        <p:nvPicPr>
          <p:cNvPr id="16" name="Image 3" descr="C:\Users\32364\AppData\Local\Temp\claude\E--Kaifa-Qiji-qiji\cb27863a-624a-4b93-8a28-290f7d580275\scratchpad\ppt\icons\Lu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" y="3241548"/>
            <a:ext cx="173736" cy="1737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9264" y="3154680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需要高清交付的镜头已做超分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3758184"/>
            <a:ext cx="274320" cy="274320"/>
          </a:xfrm>
          <a:prstGeom prst="ellipse">
            <a:avLst/>
          </a:prstGeom>
          <a:solidFill>
            <a:srgbClr val="EAF7F1"/>
          </a:solidFill>
          <a:ln/>
        </p:spPr>
      </p:sp>
      <p:pic>
        <p:nvPicPr>
          <p:cNvPr id="19" name="Image 4" descr="C:\Users\32364\AppData\Local\Temp\claude\E--Kaifa-Qiji-qiji\cb27863a-624a-4b93-8a28-290f7d580275\scratchpad\ppt\icons\Lu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" y="3808476"/>
            <a:ext cx="173736" cy="1737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69264" y="3721608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跑一次「检查所有资产」，确认素材链接健康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48640" y="4325112"/>
            <a:ext cx="274320" cy="274320"/>
          </a:xfrm>
          <a:prstGeom prst="ellipse">
            <a:avLst/>
          </a:prstGeom>
          <a:solidFill>
            <a:srgbClr val="EAF7F1"/>
          </a:solidFill>
          <a:ln/>
        </p:spPr>
      </p:sp>
      <p:pic>
        <p:nvPicPr>
          <p:cNvPr id="22" name="Image 5" descr="C:\Users\32364\AppData\Local\Temp\claude\E--Kaifa-Qiji-qiji\cb27863a-624a-4b93-8a28-290f7d580275\scratchpad\ppt\icons\LuCheck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" y="4375404"/>
            <a:ext cx="173736" cy="17373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69264" y="4288536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逐镜「导出」到本地，进剪辑软件合成整集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6858000" y="1554480"/>
            <a:ext cx="478231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5" name="Image 6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7132" y="3273552"/>
            <a:ext cx="384048" cy="38404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132320" y="3712464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截图占位：分镜行 · 导出入口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7132320" y="4041648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8B7CF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058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B7CF7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进阶预告与答疑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画布模式 · 团队协作 · 常见问题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画布模式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更多能力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5029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F2333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5020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课后练习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04 部分 · 进阶预告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画布模式：下一阶段学什么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Workflow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547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5179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节点连线，流程可见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类节点自由组合，推理结果流式裂变成流水线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51460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5072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4780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多方案对比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275234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ALT 拖动复制节点并行跑，堆叠抽屉横向对比选最佳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474720"/>
            <a:ext cx="310896" cy="310896"/>
          </a:xfrm>
          <a:prstGeom prst="ellipse">
            <a:avLst/>
          </a:prstGeom>
          <a:solidFill>
            <a:srgbClr val="8B7CF7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674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438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宫格创作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371246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多图合并分镜组、拼接大图、宫格图反向切分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617720"/>
            <a:ext cx="5303520" cy="1280160"/>
          </a:xfrm>
          <a:prstGeom prst="roundRect">
            <a:avLst>
              <a:gd name="adj" fmla="val 5714"/>
            </a:avLst>
          </a:prstGeom>
          <a:solidFill>
            <a:srgbClr val="EAF7F1"/>
          </a:solidFill>
          <a:ln/>
        </p:spPr>
      </p:sp>
      <p:pic>
        <p:nvPicPr>
          <p:cNvPr id="21" name="Image 1" descr="C:\Users\32364\AppData\Local\Temp\claude\E--Kaifa-Qiji-qiji\cb27863a-624a-4b93-8a28-290f7d580275\scratchpad\ppt\icons\LuLightbulb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80060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15568" y="4727448"/>
            <a:ext cx="4526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FB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入门路径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视频界面点「同步本集到画布」，先在熟悉的内容上体验节点操作，再从零搭建。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309360" y="1554480"/>
            <a:ext cx="5330952" cy="4389120"/>
          </a:xfrm>
          <a:prstGeom prst="roundRect">
            <a:avLst>
              <a:gd name="adj" fmla="val 1875"/>
            </a:avLst>
          </a:prstGeom>
          <a:solidFill>
            <a:srgbClr val="F3F4F8"/>
          </a:solidFill>
          <a:ln w="15875">
            <a:solidFill>
              <a:srgbClr val="C9CBDA"/>
            </a:solidFill>
            <a:prstDash val="dash"/>
          </a:ln>
        </p:spPr>
      </p:sp>
      <p:pic>
        <p:nvPicPr>
          <p:cNvPr id="24" name="Image 2" descr="C:\Users\32364\AppData\Local\Temp\claude\E--Kaifa-Qiji-qiji\cb27863a-624a-4b93-8a28-290f7d580275\scratchpad\ppt\icons\LuCamera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812" y="3273552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3712464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81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截图占位：画布模式 · 分镜流水线全景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583680" y="404164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（交付前请替换为软件真机截图）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04 部分 · 进阶预告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还有这些能力等你解锁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Star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08760"/>
            <a:ext cx="3544824" cy="2034540"/>
          </a:xfrm>
          <a:prstGeom prst="roundRect">
            <a:avLst>
              <a:gd name="adj" fmla="val 3596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C:\Users\32364\AppData\Local\Temp\claude\E--Kaifa-Qiji-qiji\cb27863a-624a-4b93-8a28-290f7d580275\scratchpad\ppt\icons\LuShare2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81965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35024" y="1691640"/>
            <a:ext cx="2584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共享素材库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68096" y="2240280"/>
            <a:ext cx="3105912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团队跨账号共享定稿资产：右键秒分享、密码加入、拖拽即用，多人做同一 IP 形象统一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22064" y="1508760"/>
            <a:ext cx="3544824" cy="2034540"/>
          </a:xfrm>
          <a:prstGeom prst="roundRect">
            <a:avLst>
              <a:gd name="adj" fmla="val 3596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23232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C:\Users\32364\AppData\Local\Temp\claude\E--Kaifa-Qiji-qiji\cb27863a-624a-4b93-8a28-290f7d580275\scratchpad\ppt\icons\LuPlug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0" y="181965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08448" y="1691640"/>
            <a:ext cx="2584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即梦 / LibTV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41520" y="2240280"/>
            <a:ext cx="3105912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个人中心授权后用自己的账号出片，生成走对方额度，本平台只收少量手续费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095488" y="1508760"/>
            <a:ext cx="3544824" cy="2034540"/>
          </a:xfrm>
          <a:prstGeom prst="roundRect">
            <a:avLst>
              <a:gd name="adj" fmla="val 3596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96656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C:\Users\32364\AppData\Local\Temp\claude\E--Kaifa-Qiji-qiji\cb27863a-624a-4b93-8a28-290f7d580275\scratchpad\ppt\icons\LuMessageSquare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384" y="181965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81872" y="1691640"/>
            <a:ext cx="2584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简一助手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314944" y="2240280"/>
            <a:ext cx="3105912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AI 对话：问剧情、润色提示词，还能粘贴截图作垫图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3771900"/>
            <a:ext cx="3544824" cy="2034540"/>
          </a:xfrm>
          <a:prstGeom prst="roundRect">
            <a:avLst>
              <a:gd name="adj" fmla="val 3596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49808" y="39730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C:\Users\32364\AppData\Local\Temp\claude\E--Kaifa-Qiji-qiji\cb27863a-624a-4b93-8a28-290f7d580275\scratchpad\ppt\icons\LuGrid3X3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08279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35024" y="3954780"/>
            <a:ext cx="2584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图视同源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68096" y="4503420"/>
            <a:ext cx="3105912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图和视频共用一段提示词，改一处两边生效，按镜头数自动补宫格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322064" y="3771900"/>
            <a:ext cx="3544824" cy="2034540"/>
          </a:xfrm>
          <a:prstGeom prst="roundRect">
            <a:avLst>
              <a:gd name="adj" fmla="val 3596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523232" y="39730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C:\Users\32364\AppData\Local\Temp\claude\E--Kaifa-Qiji-qiji\cb27863a-624a-4b93-8a28-290f7d580275\scratchpad\ppt\icons\LuShieldCheck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2960" y="4082796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108448" y="3954780"/>
            <a:ext cx="2584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检查素材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4541520" y="4503420"/>
            <a:ext cx="3105912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一键体检全项目素材链接，死链自动用本地副本修复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8095488" y="3771900"/>
            <a:ext cx="3544824" cy="2034540"/>
          </a:xfrm>
          <a:prstGeom prst="roundRect">
            <a:avLst>
              <a:gd name="adj" fmla="val 3596"/>
            </a:avLst>
          </a:prstGeom>
          <a:solidFill>
            <a:srgbClr val="F7F6FC"/>
          </a:solidFill>
          <a:ln w="9525">
            <a:solidFill>
              <a:srgbClr val="E4E2F0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296656" y="39730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6" descr="C:\Users\32364\AppData\Local\Temp\claude\E--Kaifa-Qiji-qiji\cb27863a-624a-4b93-8a28-290f7d580275\scratchpad\ppt\icons\LuKeyboard_purp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6384" y="4082796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881872" y="3954780"/>
            <a:ext cx="2584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快捷键自定义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8314944" y="4503420"/>
            <a:ext cx="3105912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 14 个动作全部可改绑，录制式设置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B9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C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04 部分 · 答疑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新手最常问的 6 个问题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1018520" y="457200"/>
            <a:ext cx="658368" cy="658368"/>
          </a:xfrm>
          <a:prstGeom prst="ellipse">
            <a:avLst/>
          </a:prstGeom>
          <a:solidFill>
            <a:srgbClr val="F1EFFC"/>
          </a:solidFill>
          <a:ln/>
        </p:spPr>
      </p:sp>
      <p:pic>
        <p:nvPicPr>
          <p:cNvPr id="7" name="Image 0" descr="C:\Users\32364\AppData\Local\Temp\claude\E--Kaifa-Qiji-qiji\cb27863a-624a-4b93-8a28-290f7d580275\scratchpad\ppt\icons\LuCircleHelp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528" y="615208"/>
            <a:ext cx="342351" cy="342351"/>
          </a:xfrm>
          <a:prstGeom prst="rect">
            <a:avLst/>
          </a:prstGeom>
        </p:spPr>
      </p:pic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543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提示「未配置模型」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软件会自动弹出设置→模型页，选一个默认模型后重试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提示「额度不足」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个人中心 → 兑换码充值，或联系服务商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提示「服务暂不可用，请联系你的服务商」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服务商侧问题（不是你的余额），直接联系服务商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图片短暂显示后裂开 / 不显示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跑一次「检查素材」，死链会自动用本地副本修复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生成转圈很久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先查「请求记录」确认状态；超时会自动失败并退款，不要反复重提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换了电脑登录被拦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5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机器码绑定所致，联系管理员解绑后在新机登录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8B7CF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课后练习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2331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用一部 3000 字以内的短篇小说，独立完成：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999232"/>
            <a:ext cx="274320" cy="274320"/>
          </a:xfrm>
          <a:prstGeom prst="ellipse">
            <a:avLst/>
          </a:prstGeom>
          <a:solidFill>
            <a:srgbClr val="272C4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建项目并完成剧集拆分 + 资产拆分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999232"/>
            <a:ext cx="274320" cy="274320"/>
          </a:xfrm>
          <a:prstGeom prst="ellipse">
            <a:avLst/>
          </a:prstGeom>
          <a:solidFill>
            <a:srgbClr val="272C40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给主角出基础形象 + 1 个造型变体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712464"/>
            <a:ext cx="274320" cy="274320"/>
          </a:xfrm>
          <a:prstGeom prst="ellipse">
            <a:avLst/>
          </a:prstGeom>
          <a:solidFill>
            <a:srgbClr val="272C4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36850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集智能推理 + 提取资产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712464"/>
            <a:ext cx="274320" cy="274320"/>
          </a:xfrm>
          <a:prstGeom prst="ellipse">
            <a:avLst/>
          </a:prstGeom>
          <a:solidFill>
            <a:srgbClr val="272C40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36850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生成前 3 镜的故事板图和视频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425696"/>
            <a:ext cx="274320" cy="274320"/>
          </a:xfrm>
          <a:prstGeom prst="ellipse">
            <a:avLst/>
          </a:prstGeom>
          <a:solidFill>
            <a:srgbClr val="272C4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16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439826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用尾帧续接让第 1、2 镜衔接自然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4425696"/>
            <a:ext cx="274320" cy="274320"/>
          </a:xfrm>
          <a:prstGeom prst="ellipse">
            <a:avLst/>
          </a:prstGeom>
          <a:solidFill>
            <a:srgbClr val="272C40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416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C0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439826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导出成片，并在「请求记录」核对本次消耗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53949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完成练习 ≈ 你已经掌握 80% 的日常用法。进阶内容见《用户教程 · 实战版》教程 7-11。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Qiji 用户培训课件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11535" y="64556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Qiji 用户培训课件</dc:title>
  <dc:subject>PptxGenJS Presentation</dc:subject>
  <dc:creator>Qiji</dc:creator>
  <cp:lastModifiedBy>Qiji</cp:lastModifiedBy>
  <cp:revision>1</cp:revision>
  <dcterms:created xsi:type="dcterms:W3CDTF">2026-07-16T09:37:25Z</dcterms:created>
  <dcterms:modified xsi:type="dcterms:W3CDTF">2026-07-16T09:37:25Z</dcterms:modified>
</cp:coreProperties>
</file>