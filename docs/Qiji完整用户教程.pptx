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2.png"/><Relationship Id="rId6" Type="http://schemas.openxmlformats.org/officeDocument/2006/relationships/image" Target="../media/image-4-2.png"/><Relationship Id="rId7" Type="http://schemas.openxmlformats.org/officeDocument/2006/relationships/image" Target="../media/image-4-2.png"/><Relationship Id="rId8" Type="http://schemas.openxmlformats.org/officeDocument/2006/relationships/image" Target="../media/image-4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image" Target="../media/image-12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2.png"/><Relationship Id="rId4" Type="http://schemas.openxmlformats.org/officeDocument/2006/relationships/image" Target="../media/image-1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2.png"/><Relationship Id="rId4" Type="http://schemas.openxmlformats.org/officeDocument/2006/relationships/image" Target="../media/image-18-2.png"/><Relationship Id="rId5" Type="http://schemas.openxmlformats.org/officeDocument/2006/relationships/image" Target="../media/image-18-2.png"/><Relationship Id="rId6" Type="http://schemas.openxmlformats.org/officeDocument/2006/relationships/image" Target="../media/image-18-2.png"/><Relationship Id="rId7" Type="http://schemas.openxmlformats.org/officeDocument/2006/relationships/image" Target="../media/image-18-2.png"/><Relationship Id="rId8" Type="http://schemas.openxmlformats.org/officeDocument/2006/relationships/image" Target="../media/image-18-2.png"/><Relationship Id="rId9" Type="http://schemas.openxmlformats.org/officeDocument/2006/relationships/image" Target="../media/image-18-2.png"/><Relationship Id="rId10" Type="http://schemas.openxmlformats.org/officeDocument/2006/relationships/image" Target="../media/image-18-2.png"/><Relationship Id="rId11" Type="http://schemas.openxmlformats.org/officeDocument/2006/relationships/image" Target="../media/image-18-2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2.png"/><Relationship Id="rId4" Type="http://schemas.openxmlformats.org/officeDocument/2006/relationships/image" Target="../media/image-24-2.png"/><Relationship Id="rId5" Type="http://schemas.openxmlformats.org/officeDocument/2006/relationships/image" Target="../media/image-24-2.png"/><Relationship Id="rId6" Type="http://schemas.openxmlformats.org/officeDocument/2006/relationships/image" Target="../media/image-24-2.png"/><Relationship Id="rId7" Type="http://schemas.openxmlformats.org/officeDocument/2006/relationships/image" Target="../media/image-24-2.png"/><Relationship Id="rId8" Type="http://schemas.openxmlformats.org/officeDocument/2006/relationships/image" Target="../media/image-24-2.png"/><Relationship Id="rId9" Type="http://schemas.openxmlformats.org/officeDocument/2006/relationships/image" Target="../media/image-24-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2.png"/><Relationship Id="rId4" Type="http://schemas.openxmlformats.org/officeDocument/2006/relationships/image" Target="../media/image-30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2.png"/><Relationship Id="rId4" Type="http://schemas.openxmlformats.org/officeDocument/2006/relationships/image" Target="../media/image-3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2.png"/><Relationship Id="rId4" Type="http://schemas.openxmlformats.org/officeDocument/2006/relationships/image" Target="../media/image-36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2.png"/><Relationship Id="rId4" Type="http://schemas.openxmlformats.org/officeDocument/2006/relationships/image" Target="../media/image-41-2.png"/><Relationship Id="rId5" Type="http://schemas.openxmlformats.org/officeDocument/2006/relationships/image" Target="../media/image-41-2.png"/><Relationship Id="rId6" Type="http://schemas.openxmlformats.org/officeDocument/2006/relationships/image" Target="../media/image-41-2.png"/><Relationship Id="rId7" Type="http://schemas.openxmlformats.org/officeDocument/2006/relationships/image" Target="../media/image-41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image" Target="../media/image-5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1.png"/><Relationship Id="rId4" Type="http://schemas.openxmlformats.org/officeDocument/2006/relationships/image" Target="../media/image-53-4.png"/><Relationship Id="rId5" Type="http://schemas.openxmlformats.org/officeDocument/2006/relationships/image" Target="../media/image-5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5943600" cy="5943600"/>
          </a:xfrm>
          <a:prstGeom prst="ellipse">
            <a:avLst/>
          </a:prstGeom>
          <a:solidFill>
            <a:srgbClr val="8B7CF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280160"/>
            <a:ext cx="3291840" cy="3291840"/>
          </a:xfrm>
          <a:prstGeom prst="ellipse">
            <a:avLst/>
          </a:prstGeom>
          <a:solidFill>
            <a:srgbClr val="8B7CF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-1097280" y="5212080"/>
            <a:ext cx="4937760" cy="4937760"/>
          </a:xfrm>
          <a:prstGeom prst="roundRect">
            <a:avLst>
              <a:gd name="adj" fmla="val 9259"/>
            </a:avLst>
          </a:prstGeom>
          <a:solidFill>
            <a:srgbClr val="8B7CF7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5394960"/>
            <a:ext cx="2377440" cy="2377440"/>
          </a:xfrm>
          <a:prstGeom prst="ellipse">
            <a:avLst/>
          </a:prstGeom>
          <a:solidFill>
            <a:srgbClr val="3FB0C4">
              <a:alpha val="1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051560"/>
            <a:ext cx="3255264" cy="384048"/>
          </a:xfrm>
          <a:prstGeom prst="roundRect">
            <a:avLst>
              <a:gd name="adj" fmla="val 50000"/>
            </a:avLst>
          </a:prstGeom>
          <a:solidFill>
            <a:srgbClr val="272C4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042416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完整用户手册 · 自学参考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第一部分「问答速查」随用随查 · 第二部分「应用实战」跟着做一遍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47091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pic>
        <p:nvPicPr>
          <p:cNvPr id="11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4892040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08176" y="4828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42416" y="524865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个主题 · 54 个问答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520440" y="47091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pic>
        <p:nvPicPr>
          <p:cNvPr id="15" name="Image 1" descr="C:\Users\32364\AppData\Local\Temp\claude\E--Kaifa-Qiji-qiji\cb27863a-624a-4b93-8a28-290f7d580275\scratchpad\ppt\icons\LuBookOpen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4892040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05656" y="4828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应用实战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739896" y="524865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个场景 · 手把手流程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217920" y="47091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pic>
        <p:nvPicPr>
          <p:cNvPr id="19" name="Image 2" descr="C:\Users\32364\AppData\Local\Temp\claude\E--Kaifa-Qiji-qiji\cb27863a-624a-4b93-8a28-290f7d580275\scratchpad\ppt\icons\LuKeyboard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489204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03136" y="4828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附录速查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437376" y="524865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快捷键 · 符号 · 报错表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8915400" y="47091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pic>
        <p:nvPicPr>
          <p:cNvPr id="23" name="Image 3" descr="C:\Users\32364\AppData\Local\Temp\claude\E--Kaifa-Qiji-qiji\cb27863a-624a-4b93-8a28-290f7d580275\scratchpad\ppt\icons\LuLightbulb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568" y="4892040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500616" y="4828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适合自学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9134856" y="524865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按需跳转 · 无需连读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5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提示：部分功能入口由服务商配置开关，找不到入口先联系服务商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全书导航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BookOpen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08760"/>
            <a:ext cx="5440680" cy="4526280"/>
          </a:xfrm>
          <a:prstGeom prst="roundRect">
            <a:avLst>
              <a:gd name="adj" fmla="val 2020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问答速查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 账号与登录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25374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 项目管理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2880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剧本编辑与拆分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" y="32232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 资产工作台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3566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 视频 / 分镜工作台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" y="39090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 画布模式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4251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 悬浮助手与全局工具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68680" y="45948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 共享素材库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68680" y="4937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 LibTV 与即梦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68680" y="52806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 积分与计费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68680" y="5623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十一 常见问题排查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17920" y="1508760"/>
            <a:ext cx="5440680" cy="4526280"/>
          </a:xfrm>
          <a:prstGeom prst="roundRect">
            <a:avLst>
              <a:gd name="adj" fmla="val 2020"/>
            </a:avLst>
          </a:prstGeom>
          <a:solidFill>
            <a:srgbClr val="F1EF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9224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应用实战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537960" y="2194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实战一 从小说到第一集成片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537960" y="26334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实战二 角色造型变体工作流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537960" y="30723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实战三 图视同源快速出片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537960" y="351129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实战四 画布模式精修镜头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537960" y="3950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实战五 镜头衔接技巧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537960" y="4389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实战六 团队共享素材协作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537960" y="48280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实战七 接入即梦 / LibTV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537960" y="52669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快捷键 · 符号 · 报错对照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4754880" cy="4754880"/>
          </a:xfrm>
          <a:prstGeom prst="ellipse">
            <a:avLst/>
          </a:prstGeom>
          <a:solidFill>
            <a:srgbClr val="8B7CF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0058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8B7CF7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77724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问答速查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按主题整理的 54 个常见问答，适合随用随查；每章首页附本章问题清单。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5029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1F233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50200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 · 项目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5029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1F2333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50200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 · 资产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577840" y="5029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1F2333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0" y="50200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 · 画布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55280" y="5029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1F2333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50200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 · 排查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1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566928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问答速查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账号与登录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0881360" y="777240"/>
            <a:ext cx="777240" cy="777240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8" name="Image 0" descr="C:\Users\32364\AppData\Local\Temp\claude\E--Kaifa-Qiji-qiji\cb27863a-624a-4b93-8a28-290f7d580275\scratchpad\ppt\icons\LuKeyRound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7898" y="963778"/>
            <a:ext cx="404165" cy="404165"/>
          </a:xfrm>
          <a:prstGeom prst="rect">
            <a:avLst/>
          </a:prstGeom>
        </p:spPr>
      </p:pic>
      <p:pic>
        <p:nvPicPr>
          <p:cNvPr id="9" name="Image 1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85032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9536" y="3657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拿到激活码，如何开始使用</a:t>
            </a:r>
            <a:endParaRPr lang="en-US" sz="1150" dirty="0"/>
          </a:p>
        </p:txBody>
      </p:sp>
      <p:pic>
        <p:nvPicPr>
          <p:cNvPr id="11" name="Image 2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60520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9536" y="413308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注册后每次怎么登录</a:t>
            </a:r>
            <a:endParaRPr lang="en-US" sz="1150" dirty="0"/>
          </a:p>
        </p:txBody>
      </p:sp>
      <p:pic>
        <p:nvPicPr>
          <p:cNvPr id="13" name="Image 3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636008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59536" y="460857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忘记密码怎么办</a:t>
            </a:r>
            <a:endParaRPr lang="en-US" sz="1150" dirty="0"/>
          </a:p>
        </p:txBody>
      </p:sp>
      <p:pic>
        <p:nvPicPr>
          <p:cNvPr id="15" name="Image 4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5111496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59536" y="508406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账号有效期与到期表现</a:t>
            </a:r>
            <a:endParaRPr lang="en-US" sz="1150" dirty="0"/>
          </a:p>
        </p:txBody>
      </p:sp>
      <p:pic>
        <p:nvPicPr>
          <p:cNvPr id="17" name="Image 5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3685032"/>
            <a:ext cx="182880" cy="18288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437376" y="3657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查积分余额与消耗</a:t>
            </a:r>
            <a:endParaRPr lang="en-US" sz="1150" dirty="0"/>
          </a:p>
        </p:txBody>
      </p:sp>
      <p:pic>
        <p:nvPicPr>
          <p:cNvPr id="19" name="Image 6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4768" y="4160520"/>
            <a:ext cx="182880" cy="18288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437376" y="413308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兑换码充值</a:t>
            </a:r>
            <a:endParaRPr lang="en-US" sz="1150" dirty="0"/>
          </a:p>
        </p:txBody>
      </p:sp>
      <p:pic>
        <p:nvPicPr>
          <p:cNvPr id="21" name="Image 7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4768" y="4636008"/>
            <a:ext cx="182880" cy="18288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437376" y="460857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查每次生成的扣分明细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· 账号与登录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从激活码到进入软件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4813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我拿到了激活码，如何开始使用？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938528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登录页选「注册」标签 → 填写：自定义账号、密码、用户名（昵称可中文、可留空）、激活码。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点「注册并登录」直接进入软件。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注意：注册会绑定当前电脑（机器码），换机登录会被拦截，需管理员解绑。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822192"/>
            <a:ext cx="11091672" cy="0"/>
          </a:xfrm>
          <a:prstGeom prst="line">
            <a:avLst/>
          </a:prstGeom>
          <a:noFill/>
          <a:ln w="12700">
            <a:solidFill>
              <a:srgbClr val="E4E2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02336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7552" y="400507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注册之后每次怎么登录？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87552" y="4462272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登录页选「账号登录」，输入账号密码即可；软件会记住登录状态。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· 账号与登录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忘记密码与账号恢复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4813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我忘记密码了怎么办？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938528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软件内没有自助改密。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联系服务商/管理员在后台解绑你的账号，然后用原激活码重新注册（重设账号密码），项目数据不受影响。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822192"/>
            <a:ext cx="11091672" cy="0"/>
          </a:xfrm>
          <a:prstGeom prst="line">
            <a:avLst/>
          </a:prstGeom>
          <a:noFill/>
          <a:ln w="12700">
            <a:solidFill>
              <a:srgbClr val="E4E2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02336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7552" y="400507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账号有有效期吗？到期会怎样？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87552" y="4462272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激活码分 1 天 / 3 天 / 30 天 / 永久，从首次注册激活起算。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到期后可登录查看项目，但无法生成，界面提示「账号已到期」；续期联系服务商。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· 账号与登录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积分与充值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4813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在哪里查看积分余额和消耗？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938528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顶部标题栏「个人中心」→ 概览页：余额、总消耗、账号信息、有效期。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822192"/>
            <a:ext cx="11091672" cy="0"/>
          </a:xfrm>
          <a:prstGeom prst="line">
            <a:avLst/>
          </a:prstGeom>
          <a:noFill/>
          <a:ln w="12700">
            <a:solidFill>
              <a:srgbClr val="E4E2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02336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7552" y="400507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如何给账号充值积分？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87552" y="4462272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个人中心 →「兑换码」入口，输入服务商发的兑换码即到账。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· 账号与登录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请求记录：笔笔可查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4813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我想查每一次生成花了多少积分，在哪看？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938528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个人中心 →「请求记录」页：每条记录显示 时间 / 步骤 / 模型 / 扣分 / 状态，可按状态筛选、点击展开详情。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失败的任务自动退款，记录上标「已退还」。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50292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AF7F1"/>
          </a:solidFill>
          <a:ln/>
        </p:spPr>
      </p:sp>
      <p:pic>
        <p:nvPicPr>
          <p:cNvPr id="13" name="Image 1" descr="C:\Users\32364\AppData\Local\Temp\claude\E--Kaifa-Qiji-qiji\cb27863a-624a-4b93-8a28-290f7d580275\scratchpad\ppt\icons\LuLightbulb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2120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15568" y="5138928"/>
            <a:ext cx="10314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FB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对账小技巧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生成按钮旁的积分角标 = 预估费用 = 实扣费用；对不上时先等心跳刷新（≤30 秒）。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1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566928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问答速查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0881360" y="777240"/>
            <a:ext cx="777240" cy="777240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8" name="Image 0" descr="C:\Users\32364\AppData\Local\Temp\claude\E--Kaifa-Qiji-qiji\cb27863a-624a-4b93-8a28-290f7d580275\scratchpad\ppt\icons\LuFolderPlus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7898" y="963778"/>
            <a:ext cx="404165" cy="404165"/>
          </a:xfrm>
          <a:prstGeom prst="rect">
            <a:avLst/>
          </a:prstGeom>
        </p:spPr>
      </p:pic>
      <p:pic>
        <p:nvPicPr>
          <p:cNvPr id="9" name="Image 1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85032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9536" y="3657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如何新建项目</a:t>
            </a:r>
            <a:endParaRPr lang="en-US" sz="1150" dirty="0"/>
          </a:p>
        </p:txBody>
      </p:sp>
      <p:pic>
        <p:nvPicPr>
          <p:cNvPr id="11" name="Image 2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60520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9536" y="413308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表格创作与画布创作的区别</a:t>
            </a:r>
            <a:endParaRPr lang="en-US" sz="1150" dirty="0"/>
          </a:p>
        </p:txBody>
      </p:sp>
      <p:pic>
        <p:nvPicPr>
          <p:cNvPr id="13" name="Image 3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636008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59536" y="460857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自动保存与数据安全</a:t>
            </a:r>
            <a:endParaRPr lang="en-US" sz="1150" dirty="0"/>
          </a:p>
        </p:txBody>
      </p:sp>
      <p:pic>
        <p:nvPicPr>
          <p:cNvPr id="15" name="Image 4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5111496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59536" y="508406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重开软件恢复上次位置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· 项目管理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新建项目与画风选择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4813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如何新建项目？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938528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大厅 →「新建项目」：填项目名、封面（可选）、选画风预设（3D 国漫 / 2D 手绘 / 写实等）。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画风是全项目风格锚点，影响所有出图——建议想清楚再选。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然后选「表格创作」或「画布创作」打开。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822192"/>
            <a:ext cx="11091672" cy="0"/>
          </a:xfrm>
          <a:prstGeom prst="line">
            <a:avLst/>
          </a:prstGeom>
          <a:noFill/>
          <a:ln w="12700">
            <a:solidFill>
              <a:srgbClr val="E4E2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02336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7552" y="400507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「表格创作」和「画布创作」有什么区别？选错了怎么办？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87552" y="4462272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同一份项目数据的两个视图，顶部标题栏随时切换，不存在选错。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 = 结构化流水线，适合标准作业；画布 = 自由节点，适合实验与精修。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建议新手先用表格模式跑通全流程。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· 项目管理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自动保存与断连保护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4813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项目会自动保存吗？会不会丢数据？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938528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自动保存 + 滚动备份，异常断电/崩溃后能自动恢复。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生成任务进行到一半关软件没关系：重开项目自动重连原任务，不重复扣费。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822192"/>
            <a:ext cx="11091672" cy="0"/>
          </a:xfrm>
          <a:prstGeom prst="line">
            <a:avLst/>
          </a:prstGeom>
          <a:noFill/>
          <a:ln w="12700">
            <a:solidFill>
              <a:srgbClr val="E4E2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02336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7552" y="400507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重新打开软件后会回到上次的位置吗？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87552" y="4462272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会。软件记住上次所在页面、分集、滚动位置，打开项目自动恢复。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1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566928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问答速查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剧本编辑与拆分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0881360" y="777240"/>
            <a:ext cx="777240" cy="777240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8" name="Image 0" descr="C:\Users\32364\AppData\Local\Temp\claude\E--Kaifa-Qiji-qiji\cb27863a-624a-4b93-8a28-290f7d580275\scratchpad\ppt\icons\LuScissors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7898" y="963778"/>
            <a:ext cx="404165" cy="404165"/>
          </a:xfrm>
          <a:prstGeom prst="rect">
            <a:avLst/>
          </a:prstGeom>
        </p:spPr>
      </p:pic>
      <p:pic>
        <p:nvPicPr>
          <p:cNvPr id="9" name="Image 1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85032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9536" y="3657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拿到小说第一步做什么</a:t>
            </a:r>
            <a:endParaRPr lang="en-US" sz="1150" dirty="0"/>
          </a:p>
        </p:txBody>
      </p:sp>
      <p:pic>
        <p:nvPicPr>
          <p:cNvPr id="11" name="Image 2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60520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9536" y="413308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剧集拆分的五种方式</a:t>
            </a:r>
            <a:endParaRPr lang="en-US" sz="1150" dirty="0"/>
          </a:p>
        </p:txBody>
      </p:sp>
      <p:pic>
        <p:nvPicPr>
          <p:cNvPr id="13" name="Image 3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636008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59536" y="460857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重新拆分的覆盖风险</a:t>
            </a:r>
            <a:endParaRPr lang="en-US" sz="1150" dirty="0"/>
          </a:p>
        </p:txBody>
      </p:sp>
      <p:pic>
        <p:nvPicPr>
          <p:cNvPr id="15" name="Image 4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5111496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59536" y="508406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资产拆分会得到什么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· 剧本编辑与拆分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两键拆完一部小说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4813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拿到一部小说/剧本，第一步做什么？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938528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剧本编辑页粘贴全文，然后点两个相互独立的按钮（顺序不限）：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「剧集拆分」：把全文拆成一集一集；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「资产拆分」：提取角色、场景、道具等五类资产。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822192"/>
            <a:ext cx="11091672" cy="0"/>
          </a:xfrm>
          <a:prstGeom prst="line">
            <a:avLst/>
          </a:prstGeom>
          <a:noFill/>
          <a:ln w="12700">
            <a:solidFill>
              <a:srgbClr val="E4E2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02336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7552" y="400507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剧集拆分有哪些方式？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87552" y="4462272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智能分集：AI 按剧情自动分集（最省心，耗积分）；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快速拆分：空行分隔 / n-1（合并一集）/ n-n（默认，一段一集）/ 场n-n（按场次）。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· 剧本编辑与拆分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重拆的覆盖风险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4813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已经拆分过了，再点「剧集拆分」会怎样？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938528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会弹确认框：再次拆分将覆盖现有全部分集及其分镜（含推理结果、故事板图、视频引用），确认后不可恢复。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已开始做分镜的项目请谨慎重拆；后期微调用「上拆 / 下拆」。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822192"/>
            <a:ext cx="11091672" cy="0"/>
          </a:xfrm>
          <a:prstGeom prst="line">
            <a:avLst/>
          </a:prstGeom>
          <a:noFill/>
          <a:ln w="12700">
            <a:solidFill>
              <a:srgbClr val="E4E2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02336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7552" y="400507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「资产拆分」会得到什么？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87552" y="4462272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五类资产自动分流五个页面：角色 C / 群像 G / 场景 S / 生物 M / 物品 P。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每个资产自带整段出图提示词；同时生成「项目视觉圣经」（全项目统一风格描述），所有出图自动继承。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提取是流式的，边拆边入库。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1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566928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问答速查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资产工作台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0881360" y="777240"/>
            <a:ext cx="777240" cy="777240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8" name="Image 0" descr="C:\Users\32364\AppData\Local\Temp\claude\E--Kaifa-Qiji-qiji\cb27863a-624a-4b93-8a28-290f7d580275\scratchpad\ppt\icons\LuUsers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7898" y="963778"/>
            <a:ext cx="404165" cy="404165"/>
          </a:xfrm>
          <a:prstGeom prst="rect">
            <a:avLst/>
          </a:prstGeom>
        </p:spPr>
      </p:pic>
      <p:pic>
        <p:nvPicPr>
          <p:cNvPr id="9" name="Image 1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85032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9536" y="3657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资产页面怎么用</a:t>
            </a:r>
            <a:endParaRPr lang="en-US" sz="1150" dirty="0"/>
          </a:p>
        </p:txBody>
      </p:sp>
      <p:pic>
        <p:nvPicPr>
          <p:cNvPr id="11" name="Image 2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60520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9536" y="413308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给角色绑定音色</a:t>
            </a:r>
            <a:endParaRPr lang="en-US" sz="1150" dirty="0"/>
          </a:p>
        </p:txBody>
      </p:sp>
      <p:pic>
        <p:nvPicPr>
          <p:cNvPr id="13" name="Image 3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636008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59536" y="460857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提示词可以自己改吗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· 资产工作台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资产卡的四件事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4813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资产页面怎么用？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938528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生成基础形象：按资产自带的提示词出图；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生成造型变体：图生图锁 DNA，只改指定项（战损、换装不穿帮）；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上传本地图：用自己的设定图作为形象；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主图 + 历史：多次生成全保留，随时切换主图。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50292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AF7F1"/>
          </a:solidFill>
          <a:ln/>
        </p:spPr>
      </p:sp>
      <p:pic>
        <p:nvPicPr>
          <p:cNvPr id="13" name="Image 1" descr="C:\Users\32364\AppData\Local\Temp\claude\E--Kaifa-Qiji-qiji\cb27863a-624a-4b93-8a28-290f7d580275\scratchpad\ppt\icons\LuLightbulb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2120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15568" y="5138928"/>
            <a:ext cx="10314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FB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定稿优先级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先出主角和主场景（出场率最高），道具配角按需再补；基础形象越稳，全片一致性越好。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· 资产工作台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音色绑定与提示词编辑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4813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如何给角色绑定音色？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938528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角色卡上传一段音频即完成绑定。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之后匹配素材命中该角色时，声音参考自动跟垫图进素材区，图例写明「@ImageN的声音参考@AudioM」。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资产助手里绑音色的卡片有音频角标，点击试听。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822192"/>
            <a:ext cx="11091672" cy="0"/>
          </a:xfrm>
          <a:prstGeom prst="line">
            <a:avLst/>
          </a:prstGeom>
          <a:noFill/>
          <a:ln w="12700">
            <a:solidFill>
              <a:srgbClr val="E4E2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02336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7552" y="400507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提示词可以自己改吗？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87552" y="4462272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可以。资产出图提示词、分镜的故事板/视频提示词全部可编辑；AI 只负责初稿。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1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566928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问答速查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 / 分镜工作台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0881360" y="777240"/>
            <a:ext cx="777240" cy="777240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8" name="Image 0" descr="C:\Users\32364\AppData\Local\Temp\claude\E--Kaifa-Qiji-qiji\cb27863a-624a-4b93-8a28-290f7d580275\scratchpad\ppt\icons\LuClapperboard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7898" y="963778"/>
            <a:ext cx="404165" cy="404165"/>
          </a:xfrm>
          <a:prstGeom prst="rect">
            <a:avLst/>
          </a:prstGeom>
        </p:spPr>
      </p:pic>
      <p:pic>
        <p:nvPicPr>
          <p:cNvPr id="9" name="Image 1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85032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9536" y="3657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三种推理方式怎么选</a:t>
            </a:r>
            <a:endParaRPr lang="en-US" sz="1150" dirty="0"/>
          </a:p>
        </p:txBody>
      </p:sp>
      <p:pic>
        <p:nvPicPr>
          <p:cNvPr id="11" name="Image 2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60520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9536" y="413308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图视同源是什么</a:t>
            </a:r>
            <a:endParaRPr lang="en-US" sz="1150" dirty="0"/>
          </a:p>
        </p:txBody>
      </p:sp>
      <p:pic>
        <p:nvPicPr>
          <p:cNvPr id="13" name="Image 3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636008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59536" y="460857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提取资产/匹配素材机制</a:t>
            </a:r>
            <a:endParaRPr lang="en-US" sz="1150" dirty="0"/>
          </a:p>
        </p:txBody>
      </p:sp>
      <p:pic>
        <p:nvPicPr>
          <p:cNvPr id="15" name="Image 4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5111496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59536" y="508406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素材区与 @ 引用</a:t>
            </a:r>
            <a:endParaRPr lang="en-US" sz="1150" dirty="0"/>
          </a:p>
        </p:txBody>
      </p:sp>
      <p:pic>
        <p:nvPicPr>
          <p:cNvPr id="17" name="Image 5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5586984"/>
            <a:ext cx="182880" cy="18288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59536" y="555955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预设方案胶囊</a:t>
            </a:r>
            <a:endParaRPr lang="en-US" sz="1150" dirty="0"/>
          </a:p>
        </p:txBody>
      </p:sp>
      <p:pic>
        <p:nvPicPr>
          <p:cNvPr id="19" name="Image 6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4768" y="3685032"/>
            <a:ext cx="182880" cy="18288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437376" y="3657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放大编辑窗</a:t>
            </a:r>
            <a:endParaRPr lang="en-US" sz="1150" dirty="0"/>
          </a:p>
        </p:txBody>
      </p:sp>
      <p:pic>
        <p:nvPicPr>
          <p:cNvPr id="21" name="Image 7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4768" y="4160520"/>
            <a:ext cx="182880" cy="18288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437376" y="413308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模型与参数选择</a:t>
            </a:r>
            <a:endParaRPr lang="en-US" sz="1150" dirty="0"/>
          </a:p>
        </p:txBody>
      </p:sp>
      <p:pic>
        <p:nvPicPr>
          <p:cNvPr id="23" name="Image 8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4768" y="4636008"/>
            <a:ext cx="182880" cy="18288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6437376" y="460857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生成顺序与历史条</a:t>
            </a:r>
            <a:endParaRPr lang="en-US" sz="1150" dirty="0"/>
          </a:p>
        </p:txBody>
      </p:sp>
      <p:pic>
        <p:nvPicPr>
          <p:cNvPr id="25" name="Image 9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4768" y="5111496"/>
            <a:ext cx="182880" cy="18288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6437376" y="508406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超分/去字幕后处理</a:t>
            </a:r>
            <a:endParaRPr lang="en-US" sz="1150" dirty="0"/>
          </a:p>
        </p:txBody>
      </p:sp>
      <p:pic>
        <p:nvPicPr>
          <p:cNvPr id="27" name="Image 10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44768" y="5586984"/>
            <a:ext cx="182880" cy="182880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6437376" y="555955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首尾帧等小工具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· 视频 / 分镜工作台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三种推理方式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4813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分集拆好了，怎么生成分镜？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938528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智能推理：整集一键出分镜，每镜产出 原文 + 故事板提示词 + 视频提示词 + 时长（最常用）；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智能拆分：只拆原文不写提示词（想自己写时用）；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单镜推理：重跑单个分镜，自动带上下镜上下文保连贯；另有「一键推理所有单镜」。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822192"/>
            <a:ext cx="11091672" cy="0"/>
          </a:xfrm>
          <a:prstGeom prst="line">
            <a:avLst/>
          </a:prstGeom>
          <a:noFill/>
          <a:ln w="12700">
            <a:solidFill>
              <a:srgbClr val="E4E2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02336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7552" y="400507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什么是「图视同源」？我该开吗？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87552" y="4462272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视频设置里的开关：开启后故事板图和视频共用同一段提示词（单栏），改一处两边生效。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附加：生成故事板图时按镜头数自动补 4/6/9 宫格预设。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适合不想维护两套提示词的用户。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· 视频 / 分镜工作台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匹配素材与图例机制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4813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「提取资产 / 匹配素材」是干什么的？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938528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扫描分镜原文与提示词，按名称自动匹配项目资产 → 资产图垫进素材区。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提示词顶部自动写图例：【素材图例】@Image1 是 张三，@Image1的声音参考@Audio1。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增删素材时图例自动同步，不留残句。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822192"/>
            <a:ext cx="11091672" cy="0"/>
          </a:xfrm>
          <a:prstGeom prst="line">
            <a:avLst/>
          </a:prstGeom>
          <a:noFill/>
          <a:ln w="12700">
            <a:solidFill>
              <a:srgbClr val="E4E2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02336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7552" y="400507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素材区还能做什么？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87552" y="4462272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支持图 / 视频 / 音频三类素材；「＋本地」上传、粘贴、从资产助手拖入；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素材可跨分镜拖拽复制；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提示词输入 @ 弹候选（数字 1-9 快选），插入 @Image1 等精确引用。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· 视频 / 分镜工作台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预设胶囊与放大编辑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4813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什么是「预设方案」胶囊？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938528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提示词工具栏「▦ 预设方案」：点选预设（如 6 宫格故事板）插入琥珀色胶囊，提交时自动展开成完整预设词。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双击胶囊 = 就地展开成可编辑文本；同一互斥组只保留一个（4/6/9 宫格互斥）。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 → 预设方案 可建自定义预设（互斥组、前缀/后缀位置）。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822192"/>
            <a:ext cx="11091672" cy="0"/>
          </a:xfrm>
          <a:prstGeom prst="line">
            <a:avLst/>
          </a:prstGeom>
          <a:noFill/>
          <a:ln w="12700">
            <a:solidFill>
              <a:srgbClr val="E4E2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02336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7552" y="400507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提示词太长看不过来怎么办？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87552" y="4462272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点「放大」进大编辑窗：查找替换（命中高亮、全部替换）、「匹配资产」按钮、@ / # / 预设照常可用。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关窗默认保存，点「取消」才丢弃。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· 视频 / 分镜工作台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模型两级选择与生成顺序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4813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如何选择生成模型和参数？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938528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两级选择：先选模型源（服务商模型 / LibTV / 即梦），本地渠道再选款式（Seedance 2.0 / Fast / VIP…）。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时长、比例、分辨率的可选档位由所选模型决定，自动收敛。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822192"/>
            <a:ext cx="11091672" cy="0"/>
          </a:xfrm>
          <a:prstGeom prst="line">
            <a:avLst/>
          </a:prstGeom>
          <a:noFill/>
          <a:ln w="12700">
            <a:solidFill>
              <a:srgbClr val="E4E2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02336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7552" y="400507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生成故事板图和视频的顺序是？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87552" y="4462272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推理完成 →「生成故事板图」（可带垫图）→ 满意后「生成视频」（建议带故事板图作首帧）。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生成过的图/视频都进历史条，点任意一条切换主图/主视频。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· 视频 / 分镜工作台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超分、去字幕与小工具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4813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视频/图片质量不满意，有什么后处理？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938528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右击主视频/故事板图：超分（画质增强，多档）、去字幕（全屏自动或拖框局部）、图像超分（2K/4K）。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结果作派生记录（v1+ / v1-）进历史条；右击可全屏滑杆「对比原图/原视频」、设为主图、删除。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822192"/>
            <a:ext cx="11091672" cy="0"/>
          </a:xfrm>
          <a:prstGeom prst="line">
            <a:avLst/>
          </a:prstGeom>
          <a:noFill/>
          <a:ln w="12700">
            <a:solidFill>
              <a:srgbClr val="E4E2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02336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7552" y="400507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还有哪些实用的分镜小工具？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87552" y="4462272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首帧/尾帧：截给相邻分镜当垫图，镜头衔接；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视频分段：拖选起止点裁出 mp4 片段（本地秒出）；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上拆/下拆：分镜原文首/末行移给相邻镜；导出到本地；表格列宽行高全局记忆。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1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566928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问答速查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画布模式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0881360" y="777240"/>
            <a:ext cx="777240" cy="777240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8" name="Image 0" descr="C:\Users\32364\AppData\Local\Temp\claude\E--Kaifa-Qiji-qiji\cb27863a-624a-4b93-8a28-290f7d580275\scratchpad\ppt\icons\LuWorkflow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7898" y="963778"/>
            <a:ext cx="404165" cy="404165"/>
          </a:xfrm>
          <a:prstGeom prst="rect">
            <a:avLst/>
          </a:prstGeom>
        </p:spPr>
      </p:pic>
      <p:pic>
        <p:nvPicPr>
          <p:cNvPr id="9" name="Image 1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85032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9536" y="3657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类节点与多画布</a:t>
            </a:r>
            <a:endParaRPr lang="en-US" sz="1150" dirty="0"/>
          </a:p>
        </p:txBody>
      </p:sp>
      <p:pic>
        <p:nvPicPr>
          <p:cNvPr id="11" name="Image 2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60520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9536" y="413308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裂变与二次解析</a:t>
            </a:r>
            <a:endParaRPr lang="en-US" sz="1150" dirty="0"/>
          </a:p>
        </p:txBody>
      </p:sp>
      <p:pic>
        <p:nvPicPr>
          <p:cNvPr id="13" name="Image 3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636008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59536" y="460857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连线的输入传递</a:t>
            </a:r>
            <a:endParaRPr lang="en-US" sz="1150" dirty="0"/>
          </a:p>
        </p:txBody>
      </p:sp>
      <p:pic>
        <p:nvPicPr>
          <p:cNvPr id="15" name="Image 4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5111496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59536" y="508406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结果堆叠抽屉</a:t>
            </a:r>
            <a:endParaRPr lang="en-US" sz="1150" dirty="0"/>
          </a:p>
        </p:txBody>
      </p:sp>
      <p:pic>
        <p:nvPicPr>
          <p:cNvPr id="17" name="Image 5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3685032"/>
            <a:ext cx="182880" cy="18288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437376" y="3657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节点右键菜单</a:t>
            </a:r>
            <a:endParaRPr lang="en-US" sz="1150" dirty="0"/>
          </a:p>
        </p:txBody>
      </p:sp>
      <p:pic>
        <p:nvPicPr>
          <p:cNvPr id="19" name="Image 6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4768" y="4160520"/>
            <a:ext cx="182880" cy="18288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437376" y="413308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分镜组与宫格切分</a:t>
            </a:r>
            <a:endParaRPr lang="en-US" sz="1150" dirty="0"/>
          </a:p>
        </p:txBody>
      </p:sp>
      <p:pic>
        <p:nvPicPr>
          <p:cNvPr id="21" name="Image 7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4768" y="4636008"/>
            <a:ext cx="182880" cy="18288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437376" y="460857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整理与操作技巧</a:t>
            </a:r>
            <a:endParaRPr lang="en-US" sz="1150" dirty="0"/>
          </a:p>
        </p:txBody>
      </p:sp>
      <p:pic>
        <p:nvPicPr>
          <p:cNvPr id="23" name="Image 8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4768" y="5111496"/>
            <a:ext cx="182880" cy="18288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6437376" y="508406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快捷键自定义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· 画布模式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节点、画布与裂变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4813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画布模式的基本概念？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938528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类节点：文本 / 资产拆分 / 剧集分集 / 智能推理 / 图片 / 视频 / AI 对话 / 上传；连线 = 数据流。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每个分集是一块独立画布，顶部下拉切换，「＋分集」新建。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822192"/>
            <a:ext cx="11091672" cy="0"/>
          </a:xfrm>
          <a:prstGeom prst="line">
            <a:avLst/>
          </a:prstGeom>
          <a:noFill/>
          <a:ln w="12700">
            <a:solidFill>
              <a:srgbClr val="E4E2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02336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7552" y="400507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什么是「裂变」？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87552" y="4462272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推理/拆分节点运行时自动生出下游节点：智能推理 → 每镜一条「原文→故事板→视频」流水线；资产拆分 → 每资产一个图片节点。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流式：AI 写完一项节点立即出现；怀疑漏了 → 右击「二次解析（补齐缺漏）」，只补缺不重跑。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· 画布模式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连线语义：没有隐形提交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4813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连线之后输入是怎么传递的？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938528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上游媒体（图/视频/音频）→ 自动进下游素材区（排自加素材前）；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上游文本 → 提示词出现青色「▤ 上游文本N」胶囊，提交时还原为实际文本；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匹配项目资产需手动点「匹配资产」（连线不自动匹配）。所见即所提交。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822192"/>
            <a:ext cx="11091672" cy="0"/>
          </a:xfrm>
          <a:prstGeom prst="line">
            <a:avLst/>
          </a:prstGeom>
          <a:noFill/>
          <a:ln w="12700">
            <a:solidFill>
              <a:srgbClr val="E4E2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02336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7552" y="400507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同一个节点生成了多次，旧结果去哪了？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87552" y="4462272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全部在「堆叠」里（层数角标 + 纸边效果）。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选中节点按 C（或右键）开抽屉网格浏览；右击设主图、双击灯箱放大；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拖出某张到画布（悬停 1 秒）= 复制成新节点；两个同类节点拖叠（悬停 1 秒）= 合并堆叠。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· 画布模式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右键菜单与分镜组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4813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节点右键菜单都有什么？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938528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常用：匹配资产、绑定到资产…、拆分…（原文按行拆多个节点）、宫格切分…、超分/去字幕/分段、保存到本地、检查素材、添加到共享资产、打开堆叠。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多选右键：匹配素材(N)、一键增加预设、一键检查素材、合并为分镜组、重组文本。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822192"/>
            <a:ext cx="11091672" cy="0"/>
          </a:xfrm>
          <a:prstGeom prst="line">
            <a:avLst/>
          </a:prstGeom>
          <a:noFill/>
          <a:ln w="12700">
            <a:solidFill>
              <a:srgbClr val="E4E2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02336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7552" y="400507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什么是「分镜组」节点？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87552" y="4462272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多选 ≥2 个有图节点 → 右键「合并为分镜组」= 宫格容器（2×2~4×4）：拖动排序、切规格比例、显示序号。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「拼接」出 2K/4K 无缝大图；「解组」还原独立节点；图片节点「宫格切分…」反向切出分镜组。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· 画布模式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整理与操作技巧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4813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画布太乱了怎么整理？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938528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点「整理」：相连节点按族群排版（上游左、下游右），族群间拼图式紧凑排列；间距可在设置自定义；一次撤销可回退。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「重叠」「吸附」开关在小地图旁。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822192"/>
            <a:ext cx="11091672" cy="0"/>
          </a:xfrm>
          <a:prstGeom prst="line">
            <a:avLst/>
          </a:prstGeom>
          <a:noFill/>
          <a:ln w="12700">
            <a:solidFill>
              <a:srgbClr val="E4E2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02336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7552" y="400507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画布有哪些操作技巧？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87552" y="4462272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Ctrl+V 直接粘贴：截图→上传节点、文字→文本节点、复制的节点→克隆；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ALT+拖动 = 拖动复制；Ctrl+Shift+C 全能复制（粘贴自动接回上游连线）；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框选可选中连线，Delete 删除；中键/右键拖动平移；同类节点生成设置自动联动。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· 画布模式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快捷键全部可自定义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4813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快捷键可以改吗？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938528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 → 快捷键：14 个动作全部可改绑（复制/粘贴/撤销/重做/删除/全选/打组/运行节点/缩放/打开堆叠等）。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点键位胶囊进入录制模式；可单项或全部恢复默认。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50292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AF7F1"/>
          </a:solidFill>
          <a:ln/>
        </p:spPr>
      </p:sp>
      <p:pic>
        <p:nvPicPr>
          <p:cNvPr id="13" name="Image 1" descr="C:\Users\32364\AppData\Local\Temp\claude\E--Kaifa-Qiji-qiji\cb27863a-624a-4b93-8a28-290f7d580275\scratchpad\ppt\icons\LuLightbulb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2120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15568" y="5138928"/>
            <a:ext cx="10314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FB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默认键表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见本教程附录 A「快捷键与符号速查」。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1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566928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问答速查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悬浮助手与全局工具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0881360" y="777240"/>
            <a:ext cx="777240" cy="777240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8" name="Image 0" descr="C:\Users\32364\AppData\Local\Temp\claude\E--Kaifa-Qiji-qiji\cb27863a-624a-4b93-8a28-290f7d580275\scratchpad\ppt\icons\LuMessageSquare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7898" y="963778"/>
            <a:ext cx="404165" cy="404165"/>
          </a:xfrm>
          <a:prstGeom prst="rect">
            <a:avLst/>
          </a:prstGeom>
        </p:spPr>
      </p:pic>
      <p:pic>
        <p:nvPicPr>
          <p:cNvPr id="9" name="Image 1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85032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9536" y="3657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资产助手</a:t>
            </a:r>
            <a:endParaRPr lang="en-US" sz="1150" dirty="0"/>
          </a:p>
        </p:txBody>
      </p:sp>
      <p:pic>
        <p:nvPicPr>
          <p:cNvPr id="11" name="Image 2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60520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9536" y="413308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简一助手</a:t>
            </a:r>
            <a:endParaRPr lang="en-US" sz="1150" dirty="0"/>
          </a:p>
        </p:txBody>
      </p:sp>
      <p:pic>
        <p:nvPicPr>
          <p:cNvPr id="13" name="Image 3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636008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59536" y="460857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检查素材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· 悬浮助手与全局工具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两个悬浮助手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4813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「资产助手」是什么？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938528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右侧停靠栏的悬浮面板，浏览全项目资产（七类筛选）。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拖拽资产卡到画布=建节点、到素材区=加垫图；右击选造型/分享/检查；音色角标试听；双击灯箱。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顶部「检查所有资产」一键体检云端链接。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822192"/>
            <a:ext cx="11091672" cy="0"/>
          </a:xfrm>
          <a:prstGeom prst="line">
            <a:avLst/>
          </a:prstGeom>
          <a:noFill/>
          <a:ln w="12700">
            <a:solidFill>
              <a:srgbClr val="E4E2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02336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7552" y="400507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「简一助手」是什么？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87552" y="4462272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 AI 对话：多会话、多分身、流式回复；可粘贴截图作垫图。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适合随手问剧情、润色提示词。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· 悬浮助手与全局工具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检查素材：链接体检与自愈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4813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「检查素材」是干什么的？什么时候用？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938528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探测素材云端链接是否存活：死链但本机有本地副本 → 自动重传修复；无法修复/无云端记录 → 报告点名。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入口：资产页右上角「检查所有资产」、资产/节点右键、资产助手标题栏。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50292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AF7F1"/>
          </a:solidFill>
          <a:ln/>
        </p:spPr>
      </p:sp>
      <p:pic>
        <p:nvPicPr>
          <p:cNvPr id="13" name="Image 1" descr="C:\Users\32364\AppData\Local\Temp\claude\E--Kaifa-Qiji-qiji\cb27863a-624a-4b93-8a28-290f7d580275\scratchpad\ppt\icons\LuLightbulb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2120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15568" y="5138928"/>
            <a:ext cx="10314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FB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什么时候跑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图片「短暂显示后裂开」、换机后加载失败、交付前最终检查。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1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566928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问答速查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共享素材库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0881360" y="777240"/>
            <a:ext cx="777240" cy="777240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8" name="Image 0" descr="C:\Users\32364\AppData\Local\Temp\claude\E--Kaifa-Qiji-qiji\cb27863a-624a-4b93-8a28-290f7d580275\scratchpad\ppt\icons\LuShare2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7898" y="963778"/>
            <a:ext cx="404165" cy="404165"/>
          </a:xfrm>
          <a:prstGeom prst="rect">
            <a:avLst/>
          </a:prstGeom>
        </p:spPr>
      </p:pic>
      <p:pic>
        <p:nvPicPr>
          <p:cNvPr id="9" name="Image 1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85032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9536" y="3657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共享素材库是什么</a:t>
            </a:r>
            <a:endParaRPr lang="en-US" sz="1150" dirty="0"/>
          </a:p>
        </p:txBody>
      </p:sp>
      <p:pic>
        <p:nvPicPr>
          <p:cNvPr id="11" name="Image 2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60520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9536" y="413308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如何加入并使用</a:t>
            </a:r>
            <a:endParaRPr lang="en-US" sz="1150" dirty="0"/>
          </a:p>
        </p:txBody>
      </p:sp>
      <p:pic>
        <p:nvPicPr>
          <p:cNvPr id="13" name="Image 3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636008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59536" y="460857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如何分享自己的素材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· 共享素材库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三级结构与加入方式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4813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共享素材库是什么？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938528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跨用户共享资产的空间：共享库（服务商创建、密码加入）→ 共享文件夹（用户可新建）→ 素材。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入口在资产助手的「共享资产」页。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822192"/>
            <a:ext cx="11091672" cy="0"/>
          </a:xfrm>
          <a:prstGeom prst="line">
            <a:avLst/>
          </a:prstGeom>
          <a:noFill/>
          <a:ln w="12700">
            <a:solidFill>
              <a:srgbClr val="E4E2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02336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7552" y="400507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如何加入并使用共享库？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87552" y="4462272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搜索库名 + 密码加入 → 进库自动列文件夹 → 进文件夹点「获取」下载到本地（再次获取只补新增）。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素材按 角色/场景/生物/群像/道具/其他 筛选；共享卡可拖拽垫图，或右击「添加到项目资产…」（图绑形象、音频绑音色）。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软件记住你上次浏览的位置。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· 共享素材库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右键秒分享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4813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如何把自己的素材分享出去？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938528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三个入口右键都有「添加到共享资产」：画布节点（可多选）、资产助手卡片、资产页的资产/造型。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选目标库和文件夹确认即可——登记云端记录、不重复上传文件，秒完成。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也可以在共享页直接上传本机文件。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50292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AF7F1"/>
          </a:solidFill>
          <a:ln/>
        </p:spPr>
      </p:sp>
      <p:pic>
        <p:nvPicPr>
          <p:cNvPr id="13" name="Image 1" descr="C:\Users\32364\AppData\Local\Temp\claude\E--Kaifa-Qiji-qiji\cb27863a-624a-4b93-8a28-290f7d580275\scratchpad\ppt\icons\LuLightbulb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2120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15568" y="5138928"/>
            <a:ext cx="10314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FB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团队约定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文件夹按 角色/场景/道具 分建；素材命名带角色名，方便使用方自动匹配。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1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566928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问答速查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LibTV 与即梦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0881360" y="777240"/>
            <a:ext cx="777240" cy="777240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8" name="Image 0" descr="C:\Users\32364\AppData\Local\Temp\claude\E--Kaifa-Qiji-qiji\cb27863a-624a-4b93-8a28-290f7d580275\scratchpad\ppt\icons\LuPlug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7898" y="963778"/>
            <a:ext cx="404165" cy="404165"/>
          </a:xfrm>
          <a:prstGeom prst="rect">
            <a:avLst/>
          </a:prstGeom>
        </p:spPr>
      </p:pic>
      <p:pic>
        <p:nvPicPr>
          <p:cNvPr id="9" name="Image 1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85032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9536" y="3657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与普通模型的区别</a:t>
            </a:r>
            <a:endParaRPr lang="en-US" sz="1150" dirty="0"/>
          </a:p>
        </p:txBody>
      </p:sp>
      <p:pic>
        <p:nvPicPr>
          <p:cNvPr id="11" name="Image 2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60520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9536" y="413308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 LibTV</a:t>
            </a:r>
            <a:endParaRPr lang="en-US" sz="1150" dirty="0"/>
          </a:p>
        </p:txBody>
      </p:sp>
      <p:pic>
        <p:nvPicPr>
          <p:cNvPr id="13" name="Image 3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636008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59536" y="460857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连接即梦与排队须知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· LibTV 与即梦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用自己的账号出片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4813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LibTV / 即梦渠道和普通模型有什么区别？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938528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走你自己的 LibTV / 即梦账号生成视频（Seedance 2.0 系列），消耗对方平台额度，不消耗本平台生成费。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每次调用仅收少量手续费（见界面积分角标）。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822192"/>
            <a:ext cx="11091672" cy="0"/>
          </a:xfrm>
          <a:prstGeom prst="line">
            <a:avLst/>
          </a:prstGeom>
          <a:noFill/>
          <a:ln w="12700">
            <a:solidFill>
              <a:srgbClr val="E4E2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02336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7552" y="400507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如何连接 LibTV？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87552" y="4462272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个人中心 →「LibTV 授权」→ 点连接 → 浏览器登录 → 回软件显示昵称即成功。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视频模型下拉出现「LibTV · Seedance 2.0 / Fast」。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· LibTV 与即梦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即梦授权与排队须知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4813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如何连接即梦？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938528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个人中心 →「即梦授权」→ 点连接 → 浏览器授权页输入配对码确认 → 完成登录。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模型下拉出现「即梦 · Seedance 2.0 / Fast / VIP / Fast VIP」（VIP 支持 1080p/4K）。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50292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/>
        </p:spPr>
      </p:sp>
      <p:pic>
        <p:nvPicPr>
          <p:cNvPr id="13" name="Image 1" descr="C:\Users\32364\AppData\Local\Temp\claude\E--Kaifa-Qiji-qiji\cb27863a-624a-4b93-8a28-290f7d580275\scratchpad\ppt\icons\LuTriangleAlert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2120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15568" y="5138928"/>
            <a:ext cx="10314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排队须知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即梦免费队列高峰期很慢；生成超时被打断任务不丢，点「重连原任务」继续等结果即可。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1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566928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问答速查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积分与计费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0881360" y="777240"/>
            <a:ext cx="777240" cy="777240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8" name="Image 0" descr="C:\Users\32364\AppData\Local\Temp\claude\E--Kaifa-Qiji-qiji\cb27863a-624a-4b93-8a28-290f7d580275\scratchpad\ppt\icons\LuCoins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7898" y="963778"/>
            <a:ext cx="404165" cy="404165"/>
          </a:xfrm>
          <a:prstGeom prst="rect">
            <a:avLst/>
          </a:prstGeom>
        </p:spPr>
      </p:pic>
      <p:pic>
        <p:nvPicPr>
          <p:cNvPr id="9" name="Image 1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85032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9536" y="3657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各种操作怎么计费</a:t>
            </a:r>
            <a:endParaRPr lang="en-US" sz="1150" dirty="0"/>
          </a:p>
        </p:txBody>
      </p:sp>
      <p:pic>
        <p:nvPicPr>
          <p:cNvPr id="11" name="Image 2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60520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9536" y="413308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预估与实扣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· 积分与计费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计费规则一览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4813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各种操作怎么计费？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938528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文本推理 / 出图 / 视频按模型定价扣积分（视频通常按秒）；积分角标显示预估。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余额不足直接拒单不扣费；任务失败自动退款。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LibTV / 即梦收固定手续费；超分 / 去字幕按次固定价。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822192"/>
            <a:ext cx="11091672" cy="0"/>
          </a:xfrm>
          <a:prstGeom prst="line">
            <a:avLst/>
          </a:prstGeom>
          <a:noFill/>
          <a:ln w="12700">
            <a:solidFill>
              <a:srgbClr val="E4E2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02336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7552" y="400507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预估费用和实扣不一致？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87552" y="4462272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预估即实扣（同一套价格）。余额显示延迟时等心跳刷新（≤30 秒）或重开个人中心校准。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1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566928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问答速查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常见问题排查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0881360" y="777240"/>
            <a:ext cx="777240" cy="777240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8" name="Image 0" descr="C:\Users\32364\AppData\Local\Temp\claude\E--Kaifa-Qiji-qiji\cb27863a-624a-4b93-8a28-290f7d580275\scratchpad\ppt\icons\LuWrench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7898" y="963778"/>
            <a:ext cx="404165" cy="404165"/>
          </a:xfrm>
          <a:prstGeom prst="rect">
            <a:avLst/>
          </a:prstGeom>
        </p:spPr>
      </p:pic>
      <p:pic>
        <p:nvPicPr>
          <p:cNvPr id="9" name="Image 1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85032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9536" y="3657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图片显示不出来/裂开</a:t>
            </a:r>
            <a:endParaRPr lang="en-US" sz="1150" dirty="0"/>
          </a:p>
        </p:txBody>
      </p:sp>
      <p:pic>
        <p:nvPicPr>
          <p:cNvPr id="11" name="Image 2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60520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9536" y="413308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生成转圈很久</a:t>
            </a:r>
            <a:endParaRPr lang="en-US" sz="1150" dirty="0"/>
          </a:p>
        </p:txBody>
      </p:sp>
      <p:pic>
        <p:nvPicPr>
          <p:cNvPr id="13" name="Image 3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636008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59536" y="460857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模型列表变化</a:t>
            </a:r>
            <a:endParaRPr lang="en-US" sz="1150" dirty="0"/>
          </a:p>
        </p:txBody>
      </p:sp>
      <p:pic>
        <p:nvPicPr>
          <p:cNvPr id="15" name="Image 4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3685032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437376" y="3657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未配置模型</a:t>
            </a:r>
            <a:endParaRPr lang="en-US" sz="1150" dirty="0"/>
          </a:p>
        </p:txBody>
      </p:sp>
      <p:pic>
        <p:nvPicPr>
          <p:cNvPr id="17" name="Image 5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4160520"/>
            <a:ext cx="182880" cy="18288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437376" y="413308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服务暂不可用</a:t>
            </a:r>
            <a:endParaRPr lang="en-US" sz="1150" dirty="0"/>
          </a:p>
        </p:txBody>
      </p:sp>
      <p:pic>
        <p:nvPicPr>
          <p:cNvPr id="19" name="Image 6" descr="C:\Users\32364\AppData\Local\Temp\claude\E--Kaifa-Qiji-qiji\cb27863a-624a-4b93-8a28-290f7d580275\scratchpad\ppt\icons\LuChevronRight_purp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4768" y="4636008"/>
            <a:ext cx="182880" cy="18288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437376" y="460857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删除确认与撤销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· 常见问题排查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显示异常与生成慢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4813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图片在软件里显示不出来 / 裂开？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938528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先跑「检查素材」，死链自动用本地副本修复。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项目文件夹被移动/换机且云端记录也失效的素材无法自愈——重新生成或重新上传即可重新入库。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822192"/>
            <a:ext cx="11091672" cy="0"/>
          </a:xfrm>
          <a:prstGeom prst="line">
            <a:avLst/>
          </a:prstGeom>
          <a:noFill/>
          <a:ln w="12700">
            <a:solidFill>
              <a:srgbClr val="E4E2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02336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7552" y="400507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生成一直转圈很久没结果？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87552" y="4462272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视频任务上限约 15 分钟、文本 20 分钟，超时自动失败并退款；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即梦排队慢是常态，用「重连原任务」续等；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关软件重开不影响在途任务。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· 常见问题排查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模型变化与未配置模型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4813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模型下拉里突然少了某个模型 / 多了新档位？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938528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模型、价格、参数档位由服务商实时下发（热更新，无需升级软件）。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列表变化 = 服务商调整了开放范围，有疑问联系服务商。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822192"/>
            <a:ext cx="11091672" cy="0"/>
          </a:xfrm>
          <a:prstGeom prst="line">
            <a:avLst/>
          </a:prstGeom>
          <a:noFill/>
          <a:ln w="12700">
            <a:solidFill>
              <a:srgbClr val="E4E2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02336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7552" y="400507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提示「未配置模型」怎么办？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87552" y="4462272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软件会自动弹出 设置 → 模型 页，为对应能力选一个默认模型后重试即可。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· 常见问题排查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服务商侧问题与误删防护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481328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提示「服务暂不可用，请联系你的服务商」？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7552" y="1938528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这是服务商侧的额度问题（非你的余额），直接联系你的服务商处理。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822192"/>
            <a:ext cx="11091672" cy="0"/>
          </a:xfrm>
          <a:prstGeom prst="line">
            <a:avLst/>
          </a:prstGeom>
          <a:noFill/>
          <a:ln w="12700">
            <a:solidFill>
              <a:srgbClr val="E4E2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402336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7552" y="4005072"/>
            <a:ext cx="10652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删除操作有确认吗？误删了怎么办？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87552" y="4462272"/>
            <a:ext cx="10652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所有覆盖/删除操作都弹深色确认框（Esc/点遮罩=取消）。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画布结构操作支持 Ctrl+Z 撤销；已确认的资产/分集删除不可恢复，请谨慎确认。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4754880" cy="4754880"/>
          </a:xfrm>
          <a:prstGeom prst="ellipse">
            <a:avLst/>
          </a:prstGeom>
          <a:solidFill>
            <a:srgbClr val="8B7CF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0058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8B7CF7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77724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应用实战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七条完整可跟做的流程。建议先完成「实战一」跑通主链路，其余按需取用。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5029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1F233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50200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主线全流程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5029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1F2333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50200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变体 · 同源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577840" y="5029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1F2333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0" y="50200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 · 衔接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55280" y="5029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1F2333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50200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 · 渠道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实战一 · 从小说到第一集成片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1-3 步：建项目 → 拆剧本 → 出资产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Rocket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5471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51790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步 · 建项目（1 分钟）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5840" y="1792224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大厅 → 新建项目 → 填名 → 选画风（⚠ 画风决定全项目风格，想清楚再选）→ 表格创作进入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97180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9644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93522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步 · 放入剧本并拆分（3 分钟）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05840" y="3209544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粘贴全文 → 剧集拆分（无标记选 LLM 智能分集）→ 资产拆分（流式提取，完成后检查视觉圣经）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438912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438180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435254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步 · 出资产形象（5-10 分钟）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05840" y="4626864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先出主角和主场景 → 提示词微调 → 生成/重生成（历史全保留）→ 分镜用到谁再补谁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675120" y="1554480"/>
            <a:ext cx="4965192" cy="4389120"/>
          </a:xfrm>
          <a:prstGeom prst="roundRect">
            <a:avLst>
              <a:gd name="adj" fmla="val 1875"/>
            </a:avLst>
          </a:prstGeom>
          <a:solidFill>
            <a:srgbClr val="F3F4F8"/>
          </a:solidFill>
          <a:ln w="15875">
            <a:solidFill>
              <a:srgbClr val="C9CBDA"/>
            </a:solidFill>
            <a:prstDash val="dash"/>
          </a:ln>
        </p:spPr>
      </p:sp>
      <p:pic>
        <p:nvPicPr>
          <p:cNvPr id="21" name="Image 1" descr="C:\Users\32364\AppData\Local\Temp\claude\E--Kaifa-Qiji-qiji\cb27863a-624a-4b93-8a28-290f7d580275\scratchpad\ppt\icons\LuCamera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692" y="3273552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949440" y="3712464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截图占位：拆分完成后的资产页面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949440" y="4041648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（交付前请替换为软件真机截图）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实战一 · 从小说到第一集成片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4-6 步：推分镜 → 匹配素材 → 出故事板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Sparkles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5471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51790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步 · 分镜推理（3 分钟）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5840" y="1792224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视频界面选第 1 集 → 智能推理 → 通读检查前 3 镜 → 不满意的单镜重推（自动参考上下镜）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97180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9644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93522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步 · 匹配素材（2 分钟）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05840" y="3209544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点「提取资产」→ 资产图自动垫入 + 图例写入 → 抽查垫图与造型 → 缺的从资产助手拖入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438912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438180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435254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步 · 出故事板图（5 分钟）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05840" y="4626864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逐镜生成 → 不满意改提示词重生成 → 历史条随时回退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675120" y="1554480"/>
            <a:ext cx="4965192" cy="4389120"/>
          </a:xfrm>
          <a:prstGeom prst="roundRect">
            <a:avLst>
              <a:gd name="adj" fmla="val 1875"/>
            </a:avLst>
          </a:prstGeom>
          <a:solidFill>
            <a:srgbClr val="F3F4F8"/>
          </a:solidFill>
          <a:ln w="15875">
            <a:solidFill>
              <a:srgbClr val="C9CBDA"/>
            </a:solidFill>
            <a:prstDash val="dash"/>
          </a:ln>
        </p:spPr>
      </p:sp>
      <p:pic>
        <p:nvPicPr>
          <p:cNvPr id="21" name="Image 1" descr="C:\Users\32364\AppData\Local\Temp\claude\E--Kaifa-Qiji-qiji\cb27863a-624a-4b93-8a28-290f7d580275\scratchpad\ppt\icons\LuCamera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692" y="3273552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949440" y="3712464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截图占位：推理完成的分镜表与素材区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949440" y="4041648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（交付前请替换为软件真机截图）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实战一 · 从小说到第一集成片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7-8 步：出视频 → 精修导出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Fil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5471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51790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步 · 出视频（10 分钟+）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5840" y="1792224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 模型源/模型、时长、比例、分辨率 → 生成视频（带故事板图作首帧）→ 多镜并行提交，中途关软件无碍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9260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9187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88950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 步 · 精修与导出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05840" y="3163824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不满意换提示词/垫图重跑；需要更清晰右击「超分」；衔接生硬用首尾帧续接 → 逐镜导出进剪辑软件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4572000"/>
            <a:ext cx="5669280" cy="1325880"/>
          </a:xfrm>
          <a:prstGeom prst="roundRect">
            <a:avLst>
              <a:gd name="adj" fmla="val 5517"/>
            </a:avLst>
          </a:prstGeom>
          <a:solidFill>
            <a:srgbClr val="EAF7F1"/>
          </a:solidFill>
          <a:ln/>
        </p:spPr>
      </p:sp>
      <p:pic>
        <p:nvPicPr>
          <p:cNvPr id="17" name="Image 1" descr="C:\Users\32364\AppData\Local\Temp\claude\E--Kaifa-Qiji-qiji\cb27863a-624a-4b93-8a28-290f7d580275\scratchpad\ppt\icons\LuLightbulb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75488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15568" y="4681728"/>
            <a:ext cx="48920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FB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主链路完成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跑通一遍后，实战二至七都是对某一步的深化，按需取用。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675120" y="1554480"/>
            <a:ext cx="4965192" cy="4389120"/>
          </a:xfrm>
          <a:prstGeom prst="roundRect">
            <a:avLst>
              <a:gd name="adj" fmla="val 1875"/>
            </a:avLst>
          </a:prstGeom>
          <a:solidFill>
            <a:srgbClr val="F3F4F8"/>
          </a:solidFill>
          <a:ln w="15875">
            <a:solidFill>
              <a:srgbClr val="C9CBDA"/>
            </a:solidFill>
            <a:prstDash val="dash"/>
          </a:ln>
        </p:spPr>
      </p:sp>
      <p:pic>
        <p:nvPicPr>
          <p:cNvPr id="20" name="Image 2" descr="C:\Users\32364\AppData\Local\Temp\claude\E--Kaifa-Qiji-qiji\cb27863a-624a-4b93-8a28-290f7d580275\scratchpad\ppt\icons\LuCamera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5692" y="3273552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49440" y="3712464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截图占位：视频生成与导出入口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949440" y="4041648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（交付前请替换为软件真机截图）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实战二 · 角色造型变体工作流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战损 / 换装：变形态不变人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Layers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5471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51790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基础形象先定稿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5840" y="179222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变体的底图，越稳越好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4688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4615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43230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生成造型变体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05840" y="270662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输入变化描述（如「战损：衣衫破损、面部血污」），AI 锁 DNA 只改指定项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3832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3759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334670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指定造型使用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05840" y="362102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资产助手 → 右击角色卡 → 选中目标造型，之后匹配垫的就是它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42976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42903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05840" y="426110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用完切回默认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005840" y="453542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避免下一集误用战损形态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675120" y="1554480"/>
            <a:ext cx="4965192" cy="4389120"/>
          </a:xfrm>
          <a:prstGeom prst="roundRect">
            <a:avLst>
              <a:gd name="adj" fmla="val 1875"/>
            </a:avLst>
          </a:prstGeom>
          <a:solidFill>
            <a:srgbClr val="F3F4F8"/>
          </a:solidFill>
          <a:ln w="15875">
            <a:solidFill>
              <a:srgbClr val="C9CBDA"/>
            </a:solidFill>
            <a:prstDash val="dash"/>
          </a:ln>
        </p:spPr>
      </p:sp>
      <p:pic>
        <p:nvPicPr>
          <p:cNvPr id="25" name="Image 1" descr="C:\Users\32364\AppData\Local\Temp\claude\E--Kaifa-Qiji-qiji\cb27863a-624a-4b93-8a28-290f7d580275\scratchpad\ppt\icons\LuCamera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692" y="3273552"/>
            <a:ext cx="384048" cy="38404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949440" y="3712464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截图占位：造型变体列表与选中造型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949440" y="4041648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（交付前请替换为软件真机截图）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实战三 · 图视同源快速出片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提示词只写一遍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Grid3X3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5471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51790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视频设置开「图视同源」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5840" y="1792224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同源推理模板（多卡/单卡）各选一次，随项目记住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450592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44327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41401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智能推理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05840" y="2688336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每镜只产一段同源提示词，提示词区变单栏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346704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33938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331012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改一处，两边生效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05840" y="3584448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出图和出视频都用这一段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42428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423550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05840" y="42062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自动宫格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005840" y="4480560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生成故事板图按镜头数补 4/6/9 宫格（视频不受影响）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525780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FDF3E2"/>
          </a:solidFill>
          <a:ln/>
        </p:spPr>
      </p:sp>
      <p:pic>
        <p:nvPicPr>
          <p:cNvPr id="25" name="Image 1" descr="C:\Users\32364\AppData\Local\Temp\claude\E--Kaifa-Qiji-qiji\cb27863a-624a-4b93-8a28-290f7d580275\scratchpad\ppt\icons\LuTriangleAlert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440680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15568" y="5367528"/>
            <a:ext cx="4892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先推理再出图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未推理直接生成不补宫格（没有镜头数可数）。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675120" y="1554480"/>
            <a:ext cx="4965192" cy="4389120"/>
          </a:xfrm>
          <a:prstGeom prst="roundRect">
            <a:avLst>
              <a:gd name="adj" fmla="val 1875"/>
            </a:avLst>
          </a:prstGeom>
          <a:solidFill>
            <a:srgbClr val="F3F4F8"/>
          </a:solidFill>
          <a:ln w="15875">
            <a:solidFill>
              <a:srgbClr val="C9CBDA"/>
            </a:solidFill>
            <a:prstDash val="dash"/>
          </a:ln>
        </p:spPr>
      </p:sp>
      <p:pic>
        <p:nvPicPr>
          <p:cNvPr id="28" name="Image 2" descr="C:\Users\32364\AppData\Local\Temp\claude\E--Kaifa-Qiji-qiji\cb27863a-624a-4b93-8a28-290f7d580275\scratchpad\ppt\icons\LuCamera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5692" y="3273552"/>
            <a:ext cx="384048" cy="38404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949440" y="3712464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截图占位：同源模式的单栏提示词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949440" y="4041648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（交付前请替换为软件真机截图）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实战四 · 画布模式精修镜头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多方案对比，精细控制输入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Workflow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5471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51790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同步本集到画布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5840" y="1792224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每个分镜是一条「原文→故事板→视频」流水线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42316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41584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38658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改原文重推理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05840" y="2660904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单击原文节点改内容 → 运行 = 单镜重推，向下游裂变新流水线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29184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28452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325526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拆分 / 重组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05840" y="3529584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右击「拆分…」按行拆开独立推理；多选「重组文本」合回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416052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415320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05840" y="412394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多方案并行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005840" y="4398264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ALT 拖动复制节点，不同提示词并行跑，C 键开堆叠对比选最佳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502920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50218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05840" y="499262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沉淀回资产库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1005840" y="5266944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满意的图右击「绑定到资产…」复用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675120" y="1554480"/>
            <a:ext cx="4965192" cy="4389120"/>
          </a:xfrm>
          <a:prstGeom prst="roundRect">
            <a:avLst>
              <a:gd name="adj" fmla="val 1875"/>
            </a:avLst>
          </a:prstGeom>
          <a:solidFill>
            <a:srgbClr val="F3F4F8"/>
          </a:solidFill>
          <a:ln w="15875">
            <a:solidFill>
              <a:srgbClr val="C9CBDA"/>
            </a:solidFill>
            <a:prstDash val="dash"/>
          </a:ln>
        </p:spPr>
      </p:sp>
      <p:pic>
        <p:nvPicPr>
          <p:cNvPr id="29" name="Image 1" descr="C:\Users\32364\AppData\Local\Temp\claude\E--Kaifa-Qiji-qiji\cb27863a-624a-4b93-8a28-290f7d580275\scratchpad\ppt\icons\LuCamera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692" y="3273552"/>
            <a:ext cx="384048" cy="38404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949440" y="3712464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截图占位：画布上的多方案对比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949440" y="4041648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（交付前请替换为软件真机截图）</a:t>
            </a:r>
            <a:endParaRPr lang="en-US" sz="9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实战五 · 镜头衔接技巧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首尾帧续接，动作不跳戏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Split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600200"/>
            <a:ext cx="2539746" cy="1005840"/>
          </a:xfrm>
          <a:prstGeom prst="roundRect">
            <a:avLst>
              <a:gd name="adj" fmla="val 7273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pic>
        <p:nvPicPr>
          <p:cNvPr id="9" name="Image 1" descr="C:\Users\32364\AppData\Local\Temp\claude\E--Kaifa-Qiji-qiji\cb27863a-624a-4b93-8a28-290f7d580275\scratchpad\ppt\icons\LuFilm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209" y="1746504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" y="2057400"/>
            <a:ext cx="2448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镜头 A 视频定稿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070098" y="1600200"/>
            <a:ext cx="347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BD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399282" y="1600200"/>
            <a:ext cx="2539746" cy="1005840"/>
          </a:xfrm>
          <a:prstGeom prst="roundRect">
            <a:avLst>
              <a:gd name="adj" fmla="val 7273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pic>
        <p:nvPicPr>
          <p:cNvPr id="13" name="Image 2" descr="C:\Users\32364\AppData\Local\Temp\claude\E--Kaifa-Qiji-qiji\cb27863a-624a-4b93-8a28-290f7d580275\scratchpad\ppt\icons\LuMousePointerClick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2851" y="174650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5002" y="2057400"/>
            <a:ext cx="2448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右击 →「尾帧」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5920740" y="1600200"/>
            <a:ext cx="347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BD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249924" y="1600200"/>
            <a:ext cx="2539746" cy="1005840"/>
          </a:xfrm>
          <a:prstGeom prst="roundRect">
            <a:avLst>
              <a:gd name="adj" fmla="val 7273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pic>
        <p:nvPicPr>
          <p:cNvPr id="17" name="Image 3" descr="C:\Users\32364\AppData\Local\Temp\claude\E--Kaifa-Qiji-qiji\cb27863a-624a-4b93-8a28-290f7d580275\scratchpad\ppt\icons\LuArrowRight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3493" y="1746504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95644" y="2057400"/>
            <a:ext cx="2448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发送到镜头 B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8771382" y="1600200"/>
            <a:ext cx="347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BD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9100566" y="1600200"/>
            <a:ext cx="2539746" cy="1005840"/>
          </a:xfrm>
          <a:prstGeom prst="roundRect">
            <a:avLst>
              <a:gd name="adj" fmla="val 7273"/>
            </a:avLst>
          </a:prstGeom>
          <a:solidFill>
            <a:srgbClr val="8B7CF7"/>
          </a:solidFill>
          <a:ln/>
        </p:spPr>
      </p:sp>
      <p:pic>
        <p:nvPicPr>
          <p:cNvPr id="21" name="Image 4" descr="C:\Users\32364\AppData\Local\Temp\claude\E--Kaifa-Qiji-qiji\cb27863a-624a-4b93-8a28-290f7d580275\scratchpad\ppt\icons\LuFilm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4135" y="1746504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146286" y="2057400"/>
            <a:ext cx="2448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以尾帧作首帧生成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548640" y="301752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24" name="Text 17"/>
          <p:cNvSpPr/>
          <p:nvPr/>
        </p:nvSpPr>
        <p:spPr>
          <a:xfrm>
            <a:off x="548640" y="301020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1005840" y="2980944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反向同理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1005840" y="3255264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「首帧」可发给上一镜作参考；画布视频节点悬停工具栏有同款按钮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548640" y="388620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28" name="Text 21"/>
          <p:cNvSpPr/>
          <p:nvPr/>
        </p:nvSpPr>
        <p:spPr>
          <a:xfrm>
            <a:off x="548640" y="38788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1005840" y="3849624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需要中间片段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1005840" y="4123944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「分段…」弹窗拖选起止点，裁出 mp4 片段（本地处理秒出）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548640" y="47548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32" name="Text 25"/>
          <p:cNvSpPr/>
          <p:nvPr/>
        </p:nvSpPr>
        <p:spPr>
          <a:xfrm>
            <a:off x="548640" y="47475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1005840" y="4718304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1005840" y="4992624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相邻镜头是连续动作时必用；转场切换镜头不需要</a:t>
            </a:r>
            <a:endParaRPr lang="en-US" sz="10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实战六 · 团队共享素材协作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多人做同一 IP，形象全员统一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Share2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86384" y="1783080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C:\Users\32364\AppData\Local\Temp\claude\E--Kaifa-Qiji-qiji\cb27863a-624a-4b93-8a28-290f7d580275\scratchpad\ppt\icons\LuSettings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01" y="1897197"/>
            <a:ext cx="247254" cy="24725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89888" y="17830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管理者（一次性）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04672" y="242316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找服务商开共享库，拿到库名与密码；约定文件夹（角色/场景/道具）与命名规范（带角色名）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370832" y="155448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F1EF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608576" y="1783080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C:\Users\32364\AppData\Local\Temp\claude\E--Kaifa-Qiji-qiji\cb27863a-624a-4b93-8a28-290f7d580275\scratchpad\ppt\icons\LuShare2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693" y="1897197"/>
            <a:ext cx="247254" cy="24725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12080" y="17830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素材提供者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626864" y="242316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定稿资产 → 右击「添加到共享资产」→ 选库和文件夹确认；秒完成、不重复上传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193024" y="155448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430768" y="1783080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C:\Users\32364\AppData\Local\Temp\claude\E--Kaifa-Qiji-qiji\cb27863a-624a-4b93-8a28-290f7d580275\scratchpad\ppt\icons\LuDownload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885" y="1897197"/>
            <a:ext cx="247254" cy="24725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34272" y="17830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素材使用者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449056" y="242316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共享资产页搜索加入 → 进文件夹「获取」下载 → 拖拽垫图或右击绑进自己项目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48640" y="45720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AF7F1"/>
          </a:solidFill>
          <a:ln/>
        </p:spPr>
      </p:sp>
      <p:pic>
        <p:nvPicPr>
          <p:cNvPr id="24" name="Image 4" descr="C:\Users\32364\AppData\Local\Temp\claude\E--Kaifa-Qiji-qiji\cb27863a-624a-4b93-8a28-290f7d580275\scratchpad\ppt\icons\LuLightbulb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75488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15568" y="4681728"/>
            <a:ext cx="103144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FB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为什么快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分享登记的是云端记录而非文件本身——定稿即共享，成员获取时才下载到本地。</a:t>
            </a:r>
            <a:endParaRPr lang="en-US" sz="11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实战七 · 接入即梦 / LibTV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用自己的账号出片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Plug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5471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51790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个人中心授权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5840" y="179222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对应区块点连接，浏览器完成登录（即梦需输配对码）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4688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4615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43230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选模型源与款式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05840" y="270662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模型源选「即梦」或「LibTV」→ 旁边选款式；参数档位自动适配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3832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3759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334670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正常生成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05840" y="362102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垫图、提示词、音频参考都随单发送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42976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42903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05840" y="426110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排队慢别慌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005840" y="453542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超时被打断点「重连原任务」继续等，任务不会丢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5349240"/>
            <a:ext cx="5669280" cy="685800"/>
          </a:xfrm>
          <a:prstGeom prst="roundRect">
            <a:avLst>
              <a:gd name="adj" fmla="val 10667"/>
            </a:avLst>
          </a:prstGeom>
          <a:solidFill>
            <a:srgbClr val="F1EFFC"/>
          </a:solidFill>
          <a:ln/>
        </p:spPr>
      </p:sp>
      <p:pic>
        <p:nvPicPr>
          <p:cNvPr id="25" name="Image 1" descr="C:\Users\32364\AppData\Local\Temp\claude\E--Kaifa-Qiji-qiji\cb27863a-624a-4b93-8a28-290f7d580275\scratchpad\ppt\icons\LuLightbulb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532120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15568" y="5458968"/>
            <a:ext cx="4892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生成走对方额度，本平台仅收少量手续费。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675120" y="1554480"/>
            <a:ext cx="4965192" cy="4389120"/>
          </a:xfrm>
          <a:prstGeom prst="roundRect">
            <a:avLst>
              <a:gd name="adj" fmla="val 1875"/>
            </a:avLst>
          </a:prstGeom>
          <a:solidFill>
            <a:srgbClr val="F3F4F8"/>
          </a:solidFill>
          <a:ln w="15875">
            <a:solidFill>
              <a:srgbClr val="C9CBDA"/>
            </a:solidFill>
            <a:prstDash val="dash"/>
          </a:ln>
        </p:spPr>
      </p:sp>
      <p:pic>
        <p:nvPicPr>
          <p:cNvPr id="28" name="Image 2" descr="C:\Users\32364\AppData\Local\Temp\claude\E--Kaifa-Qiji-qiji\cb27863a-624a-4b93-8a28-290f7d580275\scratchpad\ppt\icons\LuCamera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5692" y="3273552"/>
            <a:ext cx="384048" cy="38404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949440" y="3712464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截图占位：个人中心 · 第三方授权区块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949440" y="4041648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（交付前请替换为软件真机截图）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 · 速查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提示词符号速查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PenLine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511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符号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@Image1 / @Video1 / @Audio1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引用素材区第 N 个图/视频/音频（输入 @ 弹候选，数字 1-9 快选）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【素材图例】@Image1 是 xxx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匹配素材自动维护的图例行，告诉 AI 每张垫图是谁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@ImageN的声音参考@AudioM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角色垫图与其音色音频的配对声明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▦ 预设胶囊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提交时展开为完整预设词；双击就地展开编辑；同互斥组只保留一个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▤ 上游文本N 胶囊（画布）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提交时还原为上游节点的实际文本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导入内容到提示词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A · 速查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画布快捷键（默认值，均可改绑）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Keyboard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4406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1546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单击节点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选中并打开面板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打开/收起结果堆叠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Ctrl+C / Ctrl+V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复制 / 粘贴（含系统剪贴板）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Ctrl+Shift+C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全能复制（带上游连线）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ALT+拖动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拖动复制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Ctrl+Z / Ctrl+Shift+Z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撤销 / 重做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Ctrl+A / Delete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全选 / 删除节点、连线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463040"/>
          <a:ext cx="54406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1546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Ctrl+G / Ctrl+Shift+G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打组 / 解组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Ctrl+Enter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运行选中节点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Ctrl+= / - / 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放大 / 缩小 / 适配全图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中键 / 右键拖动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平移画布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方向键（Shift 加速）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平移画布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Esc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关菜单 → 清选区 / 关面板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双击图 / 视频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灯箱放大（滚轮缩放、右击保存）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1EFFC"/>
          </a:solidFill>
          <a:ln/>
        </p:spPr>
      </p:sp>
      <p:pic>
        <p:nvPicPr>
          <p:cNvPr id="11" name="Image 1" descr="C:\Users\32364\AppData\Local\Temp\claude\E--Kaifa-Qiji-qiji\cb27863a-624a-4b93-8a28-290f7d580275\scratchpad\ppt\icons\LuLightbulb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85216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15568" y="5779008"/>
            <a:ext cx="10314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改绑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 → 快捷键 → 点键位胶囊进入录制模式。</a:t>
            </a:r>
            <a:endParaRPr lang="en-US" sz="11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B · 速查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常见提示信息对照表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Alert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108960"/>
                <a:gridCol w="4416552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界面提示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「未配置模型」并弹出设置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该能力没选默认模型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在弹出的设置→模型页选一个后重试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「额度不足」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积分余额不够预估费用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兑换码充值或联系服务商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「服务暂不可用，请联系你的服务商」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服务商侧问题（非你的余额）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联系服务商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「账号已到期」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激活码有效期已过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联系服务商续期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「模型未对当前账号开放」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模型被收回开放范围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换模型或联系服务商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「垫图无法获取：第N张…」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某张垫图云端链接失效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跑「检查素材」或重新上传该图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「无 OSS 记录（异常）」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素材从未入库云端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重新生成/上传使其入库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机器码不符被拦截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账号绑定的不是这台电脑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联系管理员解绑后在新机登录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「详情报文已清除」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超期历史记录只留摘要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正常清理，消耗统计不受影响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8B7CF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查不到答案？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三步求助路径：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397764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" y="4160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查本教程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06424" y="4572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问答速查 + 附录 B 报错对照表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0" y="397764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18304" y="4160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查请求记录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18304" y="4572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个人中心里确认任务真实状态与退款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92440" y="397764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0184" y="4160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联系服务商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30184" y="4572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账号、额度、模型开放类问题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完整用户教程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Qiji 完整用户教程</dc:title>
  <dc:subject>PptxGenJS Presentation</dc:subject>
  <dc:creator>Qiji</dc:creator>
  <cp:lastModifiedBy>Qiji</cp:lastModifiedBy>
  <cp:revision>1</cp:revision>
  <dcterms:created xsi:type="dcterms:W3CDTF">2026-07-16T09:37:25Z</dcterms:created>
  <dcterms:modified xsi:type="dcterms:W3CDTF">2026-07-16T09:37:25Z</dcterms:modified>
</cp:coreProperties>
</file>