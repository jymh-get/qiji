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4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1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943600" cy="594360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280160"/>
            <a:ext cx="3291840" cy="3291840"/>
          </a:xfrm>
          <a:prstGeom prst="ellipse">
            <a:avLst/>
          </a:prstGeom>
          <a:solidFill>
            <a:srgbClr val="8B7CF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-1097280" y="521208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8B7CF7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solidFill>
            <a:srgbClr val="3FB0C4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051560"/>
            <a:ext cx="3054096" cy="384048"/>
          </a:xfrm>
          <a:prstGeom prst="roundRect">
            <a:avLst>
              <a:gd name="adj" fmla="val 50000"/>
            </a:avLst>
          </a:prstGeom>
          <a:solidFill>
            <a:srgbClr val="272C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4241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漫剧一站式生产工具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漫剧创作平台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从一部小说到成片视频：拆剧本、出资产、推分镜、生视频，一个软件走完全程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1" name="Image 0" descr="C:\Users\32364\AppData\Local\Temp\claude\E--Kaifa-Qiji-qiji\cb27863a-624a-4b93-8a28-290f7d580275\scratchpad\ppt\icons\LuFileTex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89204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0817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剧本智能拆分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4241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分集 + 五类资产一键提取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52044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5" name="Image 1" descr="C:\Users\32364\AppData\Local\Temp\claude\E--Kaifa-Qiji-qiji\cb27863a-624a-4b93-8a28-290f7d580275\scratchpad\ppt\icons\LuSparkle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489204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0565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分镜智能推理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73989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原文/提示词/时长全自动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1792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9" name="Image 2" descr="C:\Users\32364\AppData\Local\Temp\claude\E--Kaifa-Qiji-qiji\cb27863a-624a-4b93-8a28-290f7d580275\scratchpad\ppt\icons\LuFilm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489204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0313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图像视频生成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3737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垫图可控 · 多模型可选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91540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23" name="Image 3" descr="C:\Users\32364\AppData\Local\Temp\claude\E--Kaifa-Qiji-qiji\cb27863a-624a-4b93-8a28-290f7d580275\scratchpad\ppt\icons\LuWorkflow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489204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0061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双创作模式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13485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表格流水线 ⇄ 节点画布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产品功能介绍 · 面向新用户 / 合作伙伴演示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一页看懂：从小说到成片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Rocke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1114425" cy="960120"/>
          </a:xfrm>
          <a:prstGeom prst="roundRect">
            <a:avLst>
              <a:gd name="adj" fmla="val 76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9" name="Image 1" descr="C:\Users\32364\AppData\Local\Temp\claude\E--Kaifa-Qiji-qiji\cb27863a-624a-4b93-8a28-290f7d580275\scratchpad\ppt\icons\LuFileTex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49" y="174650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2057400"/>
            <a:ext cx="1022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放入小说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644777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973961" y="1600200"/>
            <a:ext cx="1114425" cy="960120"/>
          </a:xfrm>
          <a:prstGeom prst="roundRect">
            <a:avLst>
              <a:gd name="adj" fmla="val 76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3" name="Image 2" descr="C:\Users\32364\AppData\Local\Temp\claude\E--Kaifa-Qiji-qiji\cb27863a-624a-4b93-8a28-290f7d580275\scratchpad\ppt\icons\LuScissors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870" y="17465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9681" y="2057400"/>
            <a:ext cx="1022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剧集拆分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070098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399282" y="1600200"/>
            <a:ext cx="1114425" cy="960120"/>
          </a:xfrm>
          <a:prstGeom prst="roundRect">
            <a:avLst>
              <a:gd name="adj" fmla="val 76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7" name="Image 3" descr="C:\Users\32364\AppData\Local\Temp\claude\E--Kaifa-Qiji-qiji\cb27863a-624a-4b93-8a28-290f7d580275\scratchpad\ppt\icons\LuUsers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191" y="174650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45002" y="2057400"/>
            <a:ext cx="1022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资产提取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495419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824603" y="1600200"/>
            <a:ext cx="1114425" cy="960120"/>
          </a:xfrm>
          <a:prstGeom prst="roundRect">
            <a:avLst>
              <a:gd name="adj" fmla="val 76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21" name="Image 4" descr="C:\Users\32364\AppData\Local\Temp\claude\E--Kaifa-Qiji-qiji\cb27863a-624a-4b93-8a28-290f7d580275\scratchpad\ppt\icons\LuImage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512" y="174650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70323" y="2057400"/>
            <a:ext cx="1022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资产出图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920740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249924" y="1600200"/>
            <a:ext cx="1114425" cy="960120"/>
          </a:xfrm>
          <a:prstGeom prst="roundRect">
            <a:avLst>
              <a:gd name="adj" fmla="val 76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25" name="Image 5" descr="C:\Users\32364\AppData\Local\Temp\claude\E--Kaifa-Qiji-qiji\cb27863a-624a-4b93-8a28-290f7d580275\scratchpad\ppt\icons\LuSparkles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833" y="1746504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95644" y="2057400"/>
            <a:ext cx="1022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分镜推理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7346061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7675245" y="1600200"/>
            <a:ext cx="1114425" cy="960120"/>
          </a:xfrm>
          <a:prstGeom prst="roundRect">
            <a:avLst>
              <a:gd name="adj" fmla="val 76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29" name="Image 6" descr="C:\Users\32364\AppData\Local\Temp\claude\E--Kaifa-Qiji-qiji\cb27863a-624a-4b93-8a28-290f7d580275\scratchpad\ppt\icons\LuClapperboard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6154" y="1746504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720965" y="2057400"/>
            <a:ext cx="1022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故事板图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8771382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9100566" y="1600200"/>
            <a:ext cx="1114425" cy="960120"/>
          </a:xfrm>
          <a:prstGeom prst="roundRect">
            <a:avLst>
              <a:gd name="adj" fmla="val 7619"/>
            </a:avLst>
          </a:prstGeom>
          <a:solidFill>
            <a:srgbClr val="8B7CF7"/>
          </a:solidFill>
          <a:ln/>
        </p:spPr>
      </p:sp>
      <p:pic>
        <p:nvPicPr>
          <p:cNvPr id="33" name="Image 7" descr="C:\Users\32364\AppData\Local\Temp\claude\E--Kaifa-Qiji-qiji\cb27863a-624a-4b93-8a28-290f7d580275\scratchpad\ppt\icons\LuFilm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1475" y="1746504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146286" y="2057400"/>
            <a:ext cx="1022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10196703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10525887" y="1600200"/>
            <a:ext cx="1114425" cy="960120"/>
          </a:xfrm>
          <a:prstGeom prst="roundRect">
            <a:avLst>
              <a:gd name="adj" fmla="val 76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37" name="Image 8" descr="C:\Users\32364\AppData\Local\Temp\claude\E--Kaifa-Qiji-qiji\cb27863a-624a-4b93-8a28-290f7d580275\scratchpad\ppt\icons\LuDownload_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36796" y="1746504"/>
            <a:ext cx="292608" cy="29260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0571607" y="2057400"/>
            <a:ext cx="1022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导出成片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548640" y="30175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822960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类</a:t>
            </a:r>
            <a:endParaRPr lang="en-US" sz="3400" dirty="0"/>
          </a:p>
        </p:txBody>
      </p:sp>
      <p:sp>
        <p:nvSpPr>
          <p:cNvPr id="41" name="Text 30"/>
          <p:cNvSpPr/>
          <p:nvPr/>
        </p:nvSpPr>
        <p:spPr>
          <a:xfrm>
            <a:off x="841248" y="3931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资产体系：角色 / 群像 / 场景 / 生物 / 物品，全项目统一风格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4370832" y="30175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4645152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种</a:t>
            </a:r>
            <a:endParaRPr lang="en-US" sz="3400" dirty="0"/>
          </a:p>
        </p:txBody>
      </p:sp>
      <p:sp>
        <p:nvSpPr>
          <p:cNvPr id="44" name="Text 33"/>
          <p:cNvSpPr/>
          <p:nvPr/>
        </p:nvSpPr>
        <p:spPr>
          <a:xfrm>
            <a:off x="4663440" y="3931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创作模式：表格流水线与节点画布，同一份数据随时切换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8193024" y="30175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8467344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路</a:t>
            </a:r>
            <a:endParaRPr lang="en-US" sz="3400" dirty="0"/>
          </a:p>
        </p:txBody>
      </p:sp>
      <p:sp>
        <p:nvSpPr>
          <p:cNvPr id="47" name="Text 36"/>
          <p:cNvSpPr/>
          <p:nvPr/>
        </p:nvSpPr>
        <p:spPr>
          <a:xfrm>
            <a:off x="8485632" y="3931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视频渠道：平台模型 + 即梦 + LibTV，垫图音色全支持</a:t>
            </a:r>
            <a:endParaRPr lang="en-US" sz="1050" dirty="0"/>
          </a:p>
        </p:txBody>
      </p:sp>
      <p:sp>
        <p:nvSpPr>
          <p:cNvPr id="48" name="Shape 37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F2333"/>
          </a:solidFill>
          <a:ln/>
        </p:spPr>
      </p:sp>
      <p:pic>
        <p:nvPicPr>
          <p:cNvPr id="49" name="Image 9" descr="C:\Users\32364\AppData\Local\Temp\claude\E--Kaifa-Qiji-qiji\cb27863a-624a-4b93-8a28-290f7d580275\scratchpad\ppt\icons\LuLightbulb_purp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257800"/>
            <a:ext cx="274320" cy="27432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1115568" y="51846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把漫剧生产的「编剧拆解 → 美术设定 → 分镜脚本 → 出图出片」串成一条流水线，AI 负责初稿，你负责决策与精修。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八大核心能力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ta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262204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Scissor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35024" y="1737360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剧本智能拆分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286000"/>
            <a:ext cx="218313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分集 + 角色/场景/道具等五类资产一键提取，自带出图提示词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71850" y="1554480"/>
            <a:ext cx="262204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7301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Palett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746" y="18653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58234" y="1737360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视觉圣经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591306" y="2286000"/>
            <a:ext cx="218313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项目级风格锚点，所有资产与分镜出图自动继承，画风统一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95060" y="1554480"/>
            <a:ext cx="262204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9622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Sparkles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86537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81444" y="1737360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分镜智能推理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414516" y="2286000"/>
            <a:ext cx="218313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整集一键出分镜：原文、故事板提示词、视频提示词、时长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018270" y="1554480"/>
            <a:ext cx="262204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21943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5" name="Image 4" descr="C:\Users\32364\AppData\Local\Temp\claude\E--Kaifa-Qiji-qiji\cb27863a-624a-4b93-8a28-290f7d580275\scratchpad\ppt\icons\LuLink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166" y="186537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04654" y="1737360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素材自动匹配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237726" y="2286000"/>
            <a:ext cx="218313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按名称匹配资产垫图，自动写图例，音色参考随行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48640" y="3895344"/>
            <a:ext cx="262204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49808" y="4096512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0" name="Image 5" descr="C:\Users\32364\AppData\Local\Temp\claude\E--Kaifa-Qiji-qiji\cb27863a-624a-4b93-8a28-290f7d580275\scratchpad\ppt\icons\LuFilm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20624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35024" y="4078224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768096" y="4626864"/>
            <a:ext cx="218313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垫图/首帧可控，多模型多档位，超分与去字幕一键后处理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3371850" y="3895344"/>
            <a:ext cx="262204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3573018" y="4096512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5" name="Image 6" descr="C:\Users\32364\AppData\Local\Temp\claude\E--Kaifa-Qiji-qiji\cb27863a-624a-4b93-8a28-290f7d580275\scratchpad\ppt\icons\LuWorkflow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2746" y="4206240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158234" y="4078224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节点画布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3591306" y="4626864"/>
            <a:ext cx="218313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类节点自由连线，推理结果流式裂变成整条流水线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195060" y="3895344"/>
            <a:ext cx="262204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396228" y="4096512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40" name="Image 7" descr="C:\Users\32364\AppData\Local\Temp\claude\E--Kaifa-Qiji-qiji\cb27863a-624a-4b93-8a28-290f7d580275\scratchpad\ppt\icons\LuShare2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956" y="4206240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981444" y="4078224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共享素材库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6414516" y="4626864"/>
            <a:ext cx="218313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团队跨账号共享定稿资产，形象全员统一，秒级分享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9018270" y="3895344"/>
            <a:ext cx="262204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219438" y="4096512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45" name="Image 8" descr="C:\Users\32364\AppData\Local\Temp\claude\E--Kaifa-Qiji-qiji\cb27863a-624a-4b93-8a28-290f7d580275\scratchpad\ppt\icons\LuShieldCheck_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9166" y="4206240"/>
            <a:ext cx="237744" cy="23774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804654" y="4078224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稳定可靠</a:t>
            </a:r>
            <a:endParaRPr lang="en-US" sz="1250" dirty="0"/>
          </a:p>
        </p:txBody>
      </p:sp>
      <p:sp>
        <p:nvSpPr>
          <p:cNvPr id="47" name="Text 36"/>
          <p:cNvSpPr/>
          <p:nvPr/>
        </p:nvSpPr>
        <p:spPr>
          <a:xfrm>
            <a:off x="9237726" y="4626864"/>
            <a:ext cx="218313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断连自动重连、失败自动退款、素材死链自愈、自动保存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剧本智能拆分：一篇小说，两键拆完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cisso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459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6386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6093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剧集拆分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88366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按剧情智能分集；文本已有分隔时可用快拆（空行 / n-n / 场次），秒级完成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697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690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660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资产拆分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93522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 角色 / 群像 / 场景 / 生物 / 物品 五类资产，每个自带一整段出图提示词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74904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417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7124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视觉圣经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9867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同步产出全项目统一的风格与色调描述，后续所有出图自动继承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50292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F2333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2120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5138928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流式提取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资产是边提取边入库的，计数实时上涨，无需干等。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035040" y="1645920"/>
            <a:ext cx="5605272" cy="4297680"/>
          </a:xfrm>
          <a:prstGeom prst="roundRect">
            <a:avLst>
              <a:gd name="adj" fmla="val 1915"/>
            </a:avLst>
          </a:prstGeom>
          <a:solidFill>
            <a:srgbClr val="1F2333"/>
          </a:solidFill>
          <a:ln w="15875">
            <a:solidFill>
              <a:srgbClr val="3A4059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652" y="331927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9360" y="3758184"/>
            <a:ext cx="5056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截图占位：剧本编辑页 · 拆分完成后的资产计数面板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309360" y="408736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五类资产体系：美术设定一次定稿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Use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9" name="Image 1" descr="C:\Users\32364\AppData\Local\Temp\claude\E--Kaifa-Qiji-qiji\cb27863a-624a-4b93-8a28-290f7d580275\scratchpad\ppt\icons\LuUser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8366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16002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C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843784" y="160020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2" name="Image 2" descr="C:\Users\32364\AppData\Local\Temp\claude\E--Kaifa-Qiji-qiji\cb27863a-624a-4b93-8a28-290f7d580275\scratchpad\ppt\icons\LuUsers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88366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65576" y="16002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群像 G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138928" y="160020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5" name="Image 3" descr="C:\Users\32364\AppData\Local\Temp\claude\E--Kaifa-Qiji-qiji\cb27863a-624a-4b93-8a28-290f7d580275\scratchpad\ppt\icons\LuImag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883664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60720" y="16002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434072" y="160020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8" name="Image 4" descr="C:\Users\32364\AppData\Local\Temp\claude\E--Kaifa-Qiji-qiji\cb27863a-624a-4b93-8a28-290f7d580275\scratchpad\ppt\icons\LuPuzzle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883664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55864" y="16002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 M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9729216" y="160020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21" name="Image 5" descr="C:\Users\32364\AppData\Local\Temp\claude\E--Kaifa-Qiji-qiji\cb27863a-624a-4b93-8a28-290f7d580275\scratchpad\ppt\icons\LuFolderOpen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384" y="1883664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351008" y="16002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 P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548640" y="2788920"/>
            <a:ext cx="3236976" cy="1499616"/>
          </a:xfrm>
          <a:prstGeom prst="roundRect">
            <a:avLst>
              <a:gd name="adj" fmla="val 4878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49808" y="2990088"/>
            <a:ext cx="420624" cy="420624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5" name="Image 6" descr="C:\Users\32364\AppData\Local\Temp\claude\E--Kaifa-Qiji-qiji\cb27863a-624a-4b93-8a28-290f7d580275\scratchpad\ppt\icons\LuImage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758" y="3091038"/>
            <a:ext cx="218724" cy="21872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98448" y="297180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基础形象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768096" y="3483864"/>
            <a:ext cx="2798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按提示词出图，历史全保留，随时切换主图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3986784" y="2788920"/>
            <a:ext cx="3236976" cy="1499616"/>
          </a:xfrm>
          <a:prstGeom prst="roundRect">
            <a:avLst>
              <a:gd name="adj" fmla="val 4878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4187952" y="2990088"/>
            <a:ext cx="420624" cy="420624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0" name="Image 7" descr="C:\Users\32364\AppData\Local\Temp\claude\E--Kaifa-Qiji-qiji\cb27863a-624a-4b93-8a28-290f7d580275\scratchpad\ppt\icons\LuLayers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8902" y="3091038"/>
            <a:ext cx="218724" cy="21872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736592" y="297180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造型变体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4206240" y="3483864"/>
            <a:ext cx="2798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图生图锁 DNA：战损、换装只改指定项，不穿帮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548640" y="4489704"/>
            <a:ext cx="3236976" cy="1499616"/>
          </a:xfrm>
          <a:prstGeom prst="roundRect">
            <a:avLst>
              <a:gd name="adj" fmla="val 4878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5" name="Image 8" descr="C:\Users\32364\AppData\Local\Temp\claude\E--Kaifa-Qiji-qiji\cb27863a-624a-4b93-8a28-290f7d580275\scratchpad\ppt\icons\LuMic_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758" y="4791822"/>
            <a:ext cx="218724" cy="2187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298448" y="467258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音色绑定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768096" y="5184648"/>
            <a:ext cx="2798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角色绑一段音频，匹配素材时声音参考自动随行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3986784" y="4489704"/>
            <a:ext cx="3236976" cy="1499616"/>
          </a:xfrm>
          <a:prstGeom prst="roundRect">
            <a:avLst>
              <a:gd name="adj" fmla="val 4878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4187952" y="4690872"/>
            <a:ext cx="420624" cy="420624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40" name="Image 9" descr="C:\Users\32364\AppData\Local\Temp\claude\E--Kaifa-Qiji-qiji\cb27863a-624a-4b93-8a28-290f7d580275\scratchpad\ppt\icons\LuPenLine_purp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8902" y="4791822"/>
            <a:ext cx="218724" cy="21872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736592" y="467258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提示词可编辑</a:t>
            </a:r>
            <a:endParaRPr lang="en-US" sz="1250" dirty="0"/>
          </a:p>
        </p:txBody>
      </p:sp>
      <p:sp>
        <p:nvSpPr>
          <p:cNvPr id="42" name="Text 30"/>
          <p:cNvSpPr/>
          <p:nvPr/>
        </p:nvSpPr>
        <p:spPr>
          <a:xfrm>
            <a:off x="4206240" y="5184648"/>
            <a:ext cx="2798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初稿 + 人工微调，主图可用自己上传的图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7452360" y="2788920"/>
            <a:ext cx="4187952" cy="3200400"/>
          </a:xfrm>
          <a:prstGeom prst="roundRect">
            <a:avLst>
              <a:gd name="adj" fmla="val 2571"/>
            </a:avLst>
          </a:prstGeom>
          <a:solidFill>
            <a:srgbClr val="1F2333"/>
          </a:solidFill>
          <a:ln w="15875">
            <a:solidFill>
              <a:srgbClr val="3A4059"/>
            </a:solidFill>
            <a:prstDash val="dash"/>
          </a:ln>
        </p:spPr>
      </p:sp>
      <p:pic>
        <p:nvPicPr>
          <p:cNvPr id="44" name="Image 10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4312" y="3913632"/>
            <a:ext cx="384048" cy="38404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726680" y="435254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截图占位：角色资产页 · 形象卡与造型列表</a:t>
            </a:r>
            <a:endParaRPr lang="en-US" sz="1200" dirty="0"/>
          </a:p>
        </p:txBody>
      </p:sp>
      <p:sp>
        <p:nvSpPr>
          <p:cNvPr id="46" name="Text 33"/>
          <p:cNvSpPr/>
          <p:nvPr/>
        </p:nvSpPr>
        <p:spPr>
          <a:xfrm>
            <a:off x="7726680" y="46817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分镜智能推理：整集脚本一键成型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parkle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每个分镜同时产出四样东西：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965960"/>
            <a:ext cx="1184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分镜原文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05940" y="19659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135124" y="19659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80844" y="1965960"/>
            <a:ext cx="1184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故事板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92424" y="19659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721608" y="19659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67328" y="1965960"/>
            <a:ext cx="1184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78908" y="19659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08092" y="19659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8B7CF7"/>
          </a:solidFill>
          <a:ln/>
        </p:spPr>
      </p:sp>
      <p:sp>
        <p:nvSpPr>
          <p:cNvPr id="19" name="Text 16"/>
          <p:cNvSpPr/>
          <p:nvPr/>
        </p:nvSpPr>
        <p:spPr>
          <a:xfrm>
            <a:off x="5353812" y="1965960"/>
            <a:ext cx="1184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建议时长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32004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1930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316382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三种推理粒度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05840" y="343814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整集智能推理 / 只拆原文的智能拆分 / 单镜重推（自动参考上下镜保连贯）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1074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" y="407822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图视同源模式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005840" y="435254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图和视频共用一段提示词，改一处两边生效，还会按镜头数自动补宫格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50292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50218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05840" y="499262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推理可返工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005840" y="526694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单镜不满意随时重跑，历史结果全保留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949440" y="1554480"/>
            <a:ext cx="4690872" cy="4434840"/>
          </a:xfrm>
          <a:prstGeom prst="roundRect">
            <a:avLst>
              <a:gd name="adj" fmla="val 1856"/>
            </a:avLst>
          </a:prstGeom>
          <a:solidFill>
            <a:srgbClr val="1F2333"/>
          </a:solidFill>
          <a:ln w="15875">
            <a:solidFill>
              <a:srgbClr val="3A4059"/>
            </a:solidFill>
            <a:prstDash val="dash"/>
          </a:ln>
        </p:spPr>
      </p:sp>
      <p:pic>
        <p:nvPicPr>
          <p:cNvPr id="33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852" y="3296412"/>
            <a:ext cx="384048" cy="38404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223760" y="3735324"/>
            <a:ext cx="4142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截图占位：视频界面 · 分镜表格与推理结果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7223760" y="406450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素材自动匹配：AI 知道每张垫图是谁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Link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928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63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按名称自动匹配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83794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扫描分镜原文与提示词，命中的资产图自动垫进素材区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07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图例自动维护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5234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提示词顶部自动写明每张垫图的身份，增删素材同步修正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216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3924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音色跟随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66674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绑定音色的角色被匹配到时，声音参考自动配对进图例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5262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272C40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图例示例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" y="4983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【素材图例】</a:t>
            </a:r>
            <a:pPr indent="0" marL="0">
              <a:buNone/>
            </a:pPr>
            <a:r>
              <a:rPr lang="en-US" sz="1200" b="1" dirty="0">
                <a:solidFill>
                  <a:srgbClr val="3FB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@Image1 </a:t>
            </a:r>
            <a:pPr indent="0" marL="0">
              <a:buNone/>
            </a:pPr>
            <a:r>
              <a:rPr lang="en-US" sz="1200" dirty="0">
                <a:solidFill>
                  <a:srgbClr val="E8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张三，</a:t>
            </a:r>
            <a:pPr indent="0" marL="0">
              <a:buNone/>
            </a:pPr>
            <a:r>
              <a:rPr lang="en-US" sz="1200" b="1" dirty="0">
                <a:solidFill>
                  <a:srgbClr val="3FB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@Image1</a:t>
            </a:r>
            <a:pPr indent="0" marL="0">
              <a:buNone/>
            </a:pPr>
            <a:r>
              <a:rPr lang="en-US" sz="1200" dirty="0">
                <a:solidFill>
                  <a:srgbClr val="E8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的声音参考</a:t>
            </a:r>
            <a:pPr indent="0" marL="0">
              <a:buNone/>
            </a:pPr>
            <a:r>
              <a:rPr lang="en-US" sz="120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@Audio1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0" y="1600200"/>
            <a:ext cx="5239512" cy="4297680"/>
          </a:xfrm>
          <a:prstGeom prst="roundRect">
            <a:avLst>
              <a:gd name="adj" fmla="val 1915"/>
            </a:avLst>
          </a:prstGeom>
          <a:solidFill>
            <a:srgbClr val="1F2333"/>
          </a:solidFill>
          <a:ln w="15875">
            <a:solidFill>
              <a:srgbClr val="3A4059"/>
            </a:solidFill>
            <a:prstDash val="dash"/>
          </a:ln>
        </p:spPr>
      </p:sp>
      <p:pic>
        <p:nvPicPr>
          <p:cNvPr id="24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532" y="3273552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675120" y="3712464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截图占位：分镜素材区 · 匹配后的垫图与图例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675120" y="404164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视频生成与后处理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Fil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563112" cy="2651760"/>
          </a:xfrm>
          <a:prstGeom prst="roundRect">
            <a:avLst>
              <a:gd name="adj" fmla="val 275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Film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35024" y="173736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可控生成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286000"/>
            <a:ext cx="3124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垫图 + 故事板图作首帧，画面走向可控；时长/比例/分辨率按模型档位选择；多镜并行提交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12920" y="1554480"/>
            <a:ext cx="3563112" cy="2651760"/>
          </a:xfrm>
          <a:prstGeom prst="roundRect">
            <a:avLst>
              <a:gd name="adj" fmla="val 275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1408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ZoomIn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816" y="18653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99304" y="173736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超分（画质增强）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32376" y="2286000"/>
            <a:ext cx="3124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多档模型提升分辨率；处理结果与原片全屏滑杆对比，满意再采纳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77200" y="1554480"/>
            <a:ext cx="3563112" cy="2651760"/>
          </a:xfrm>
          <a:prstGeom prst="roundRect">
            <a:avLst>
              <a:gd name="adj" fmla="val 275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7836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Eraser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096" y="186537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63584" y="173736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去字幕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296656" y="2286000"/>
            <a:ext cx="3124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全屏自动检测，或在画面上拖框精确圈定；结果作为派生版本保留，可回退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389120"/>
            <a:ext cx="3563112" cy="1554480"/>
          </a:xfrm>
          <a:prstGeom prst="roundRect">
            <a:avLst>
              <a:gd name="adj" fmla="val 470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9808" y="4590288"/>
            <a:ext cx="402336" cy="402336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5" name="Image 4" descr="C:\Users\32364\AppData\Local\Temp\claude\E--Kaifa-Qiji-qiji\cb27863a-624a-4b93-8a28-290f7d580275\scratchpad\ppt\icons\LuHistory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9" y="4686849"/>
            <a:ext cx="209215" cy="2092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0160" y="457200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版本历史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68096" y="5065776"/>
            <a:ext cx="3124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每次生成都保留，随时切换主视频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312920" y="4389120"/>
            <a:ext cx="3563112" cy="1554480"/>
          </a:xfrm>
          <a:prstGeom prst="roundRect">
            <a:avLst>
              <a:gd name="adj" fmla="val 470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514088" y="4590288"/>
            <a:ext cx="402336" cy="402336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0" name="Image 5" descr="C:\Users\32364\AppData\Local\Temp\claude\E--Kaifa-Qiji-qiji\cb27863a-624a-4b93-8a28-290f7d580275\scratchpad\ppt\icons\LuSplit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649" y="4686849"/>
            <a:ext cx="209215" cy="20921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44440" y="457200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首尾帧续接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4532376" y="5065776"/>
            <a:ext cx="3124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上一镜尾帧作下一镜首帧，动作无缝衔接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077200" y="4389120"/>
            <a:ext cx="3563112" cy="1554480"/>
          </a:xfrm>
          <a:prstGeom prst="roundRect">
            <a:avLst>
              <a:gd name="adj" fmla="val 470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278368" y="4590288"/>
            <a:ext cx="402336" cy="402336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5" name="Image 6" descr="C:\Users\32364\AppData\Local\Temp\claude\E--Kaifa-Qiji-qiji\cb27863a-624a-4b93-8a28-290f7d580275\scratchpad\ppt\icons\LuDownload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4929" y="4686849"/>
            <a:ext cx="209215" cy="20921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808720" y="457200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分段与导出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8296656" y="5065776"/>
            <a:ext cx="3124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ffmpeg 裁剪片段，成片一键导出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节点画布：把流程摊开成一张图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Workflow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928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636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类节点自由连线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83794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文本、拆分、推理、图片、视频、对话、上传……上游输出即下游输入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87752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804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5511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流式裂变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82549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推理节点运行时自动长出「原文→故事板→视频」流水线，AI 写一个蹦一个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75304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5679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538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没有隐形提交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81304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上游文本变胶囊、垫图进素材区——提交什么，界面上就看到什么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56285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555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4526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与表格互通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05840" y="48006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「同步本集到画布」一键投影，两个视图共用同一份数据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26480" y="1600200"/>
            <a:ext cx="5513832" cy="4297680"/>
          </a:xfrm>
          <a:prstGeom prst="roundRect">
            <a:avLst>
              <a:gd name="adj" fmla="val 1915"/>
            </a:avLst>
          </a:prstGeom>
          <a:solidFill>
            <a:srgbClr val="1F2333"/>
          </a:solidFill>
          <a:ln w="15875">
            <a:solidFill>
              <a:srgbClr val="3A4059"/>
            </a:solidFill>
            <a:prstDash val="dash"/>
          </a:ln>
        </p:spPr>
      </p:sp>
      <p:pic>
        <p:nvPicPr>
          <p:cNvPr id="25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372" y="3273552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400800" y="3712464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截图占位：画布模式 · 分镜流水线与裂变节点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00800" y="404164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画布进阶：多方案对比与宫格创作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Laye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56311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Layer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35024" y="173736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结果堆叠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286000"/>
            <a:ext cx="3124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一个节点管理多版结果：C 键开抽屉网格对比，右击设主图，拖出即复制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12920" y="1554480"/>
            <a:ext cx="356311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1408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Combin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816" y="18653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99304" y="173736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多方案并行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32376" y="2286000"/>
            <a:ext cx="3124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ALT 拖动复制节点，不同提示词并行跑，好的留下、沉淀回资产库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77200" y="1554480"/>
            <a:ext cx="356311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7836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Grid3X3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096" y="186537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63584" y="173736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分镜组与宫格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296656" y="2286000"/>
            <a:ext cx="3124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多图合并宫格容器、拼接 2K/4K 大图；宫格图反向切分成独立镜头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3895344"/>
            <a:ext cx="356311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9808" y="4096512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5" name="Image 4" descr="C:\Users\32364\AppData\Local\Temp\claude\E--Kaifa-Qiji-qiji\cb27863a-624a-4b93-8a28-290f7d580275\scratchpad\ppt\icons\LuMousePointerClick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0624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35024" y="4078224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批量操作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68096" y="4626864"/>
            <a:ext cx="3124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多选批量匹配素材、加预设、检查素材、整组连线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312920" y="3895344"/>
            <a:ext cx="356311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514088" y="4096512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0" name="Image 5" descr="C:\Users\32364\AppData\Local\Temp\claude\E--Kaifa-Qiji-qiji\cb27863a-624a-4b93-8a28-290f7d580275\scratchpad\ppt\icons\LuLayoutGrid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816" y="420624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99304" y="4078224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一键整理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4532376" y="4626864"/>
            <a:ext cx="3124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相连节点按族群排版，族群间拼图式紧凑排列，可撤销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077200" y="3895344"/>
            <a:ext cx="3563112" cy="2139696"/>
          </a:xfrm>
          <a:prstGeom prst="roundRect">
            <a:avLst>
              <a:gd name="adj" fmla="val 3419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278368" y="4096512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5" name="Image 6" descr="C:\Users\32364\AppData\Local\Temp\claude\E--Kaifa-Qiji-qiji\cb27863a-624a-4b93-8a28-290f7d580275\scratchpad\ppt\icons\LuKeyboard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096" y="4206240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863584" y="4078224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快捷键自定义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8296656" y="4626864"/>
            <a:ext cx="3124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个动作全部可改绑，录制式设置，顺手为先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共享素材库：团队形象全员统一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hare2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4592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9" name="Image 1" descr="C:\Users\32364\AppData\Local\Temp\claude\E--Kaifa-Qiji-qiji\cb27863a-624a-4b93-8a28-290f7d580275\scratchpad\ppt\icons\LuLibrary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09" y="179222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210312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服务商开库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（密码保护）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070098" y="164592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99282" y="164592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3" name="Image 2" descr="C:\Users\32364\AppData\Local\Temp\claude\E--Kaifa-Qiji-qiji\cb27863a-624a-4b93-8a28-290f7d580275\scratchpad\ppt\icons\LuShare2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51" y="179222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5002" y="210312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提供者右键分享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定稿资产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920740" y="164592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49924" y="164592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7" name="Image 3" descr="C:\Users\32364\AppData\Local\Temp\claude\E--Kaifa-Qiji-qiji\cb27863a-624a-4b93-8a28-290f7d580275\scratchpad\ppt\icons\LuDownload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493" y="179222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5644" y="210312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成员密码加入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获取到本地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771382" y="164592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100566" y="164592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8B7CF7"/>
          </a:solidFill>
          <a:ln/>
        </p:spPr>
      </p:sp>
      <p:pic>
        <p:nvPicPr>
          <p:cNvPr id="21" name="Image 4" descr="C:\Users\32364\AppData\Local\Temp\claude\E--Kaifa-Qiji-qiji\cb27863a-624a-4b93-8a28-290f7d580275\scratchpad\ppt\icons\LuLin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135" y="179222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6286" y="210312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拖拽垫图 /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绑进自己项目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8640" y="3063240"/>
            <a:ext cx="3191256" cy="1316736"/>
          </a:xfrm>
          <a:prstGeom prst="roundRect">
            <a:avLst>
              <a:gd name="adj" fmla="val 555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49808" y="3264408"/>
            <a:ext cx="420624" cy="420624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5" name="Image 5" descr="C:\Users\32364\AppData\Local\Temp\claude\E--Kaifa-Qiji-qiji\cb27863a-624a-4b93-8a28-290f7d580275\scratchpad\ppt\icons\LuRocket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58" y="3365358"/>
            <a:ext cx="218724" cy="2187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98448" y="32461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秒级分享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768096" y="3758184"/>
            <a:ext cx="2752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登记云端记录而非重传文件，定稿即共享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3941064" y="3063240"/>
            <a:ext cx="3191256" cy="1316736"/>
          </a:xfrm>
          <a:prstGeom prst="roundRect">
            <a:avLst>
              <a:gd name="adj" fmla="val 555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142232" y="3264408"/>
            <a:ext cx="420624" cy="420624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0" name="Image 6" descr="C:\Users\32364\AppData\Local\Temp\claude\E--Kaifa-Qiji-qiji\cb27863a-624a-4b93-8a28-290f7d580275\scratchpad\ppt\icons\LuFolderOpen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3182" y="3365358"/>
            <a:ext cx="218724" cy="2187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690872" y="32461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三级结构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4160520" y="3758184"/>
            <a:ext cx="2752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 → 文件夹 → 素材，按角色/场景/道具分类管理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548640" y="4581144"/>
            <a:ext cx="3191256" cy="1316736"/>
          </a:xfrm>
          <a:prstGeom prst="roundRect">
            <a:avLst>
              <a:gd name="adj" fmla="val 555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749808" y="4782312"/>
            <a:ext cx="420624" cy="420624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5" name="Image 7" descr="C:\Users\32364\AppData\Local\Temp\claude\E--Kaifa-Qiji-qiji\cb27863a-624a-4b93-8a28-290f7d580275\scratchpad\ppt\icons\LuMic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758" y="4883262"/>
            <a:ext cx="218724" cy="21872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298448" y="476402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音色也能共享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768096" y="5276088"/>
            <a:ext cx="2752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音频素材可直接绑为项目角色的音色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3941064" y="4581144"/>
            <a:ext cx="3191256" cy="1316736"/>
          </a:xfrm>
          <a:prstGeom prst="roundRect">
            <a:avLst>
              <a:gd name="adj" fmla="val 555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4142232" y="4782312"/>
            <a:ext cx="420624" cy="420624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40" name="Image 8" descr="C:\Users\32364\AppData\Local\Temp\claude\E--Kaifa-Qiji-qiji\cb27863a-624a-4b93-8a28-290f7d580275\scratchpad\ppt\icons\LuShieldCheck_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3182" y="4883262"/>
            <a:ext cx="218724" cy="21872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4690872" y="476402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受众隔离</a:t>
            </a:r>
            <a:endParaRPr lang="en-US" sz="1250" dirty="0"/>
          </a:p>
        </p:txBody>
      </p:sp>
      <p:sp>
        <p:nvSpPr>
          <p:cNvPr id="42" name="Text 31"/>
          <p:cNvSpPr/>
          <p:nvPr/>
        </p:nvSpPr>
        <p:spPr>
          <a:xfrm>
            <a:off x="4160520" y="5276088"/>
            <a:ext cx="2752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各团队的库互不可见，密码加入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7360920" y="3063240"/>
            <a:ext cx="4279392" cy="2834640"/>
          </a:xfrm>
          <a:prstGeom prst="roundRect">
            <a:avLst>
              <a:gd name="adj" fmla="val 2903"/>
            </a:avLst>
          </a:prstGeom>
          <a:solidFill>
            <a:srgbClr val="1F2333"/>
          </a:solidFill>
          <a:ln w="15875">
            <a:solidFill>
              <a:srgbClr val="3A4059"/>
            </a:solidFill>
            <a:prstDash val="dash"/>
          </a:ln>
        </p:spPr>
      </p:sp>
      <p:pic>
        <p:nvPicPr>
          <p:cNvPr id="44" name="Image 9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8592" y="4005072"/>
            <a:ext cx="384048" cy="38404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635240" y="444398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截图占位：资产助手 · 共享资产页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7635240" y="477316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接入即梦 / LibTV：用自己的账号出片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Plug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1828800"/>
            <a:ext cx="548640" cy="54864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Bo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6" y="19604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828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即梦 Dreamina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22960" y="25146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Seedance 2.0 / Fast / VIP / Fast VIP 四款；VIP 支持 1080p / 4K；设备码授权，排队任务可随时重连续查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1792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73952" y="1828800"/>
            <a:ext cx="548640" cy="54864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Video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26" y="19604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78040" y="1828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LibTV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92240" y="25146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Seedance 2.0 / Fast 两款；浏览器一键授权；垫图、垫视频、音频参考全支持，@ 引用自动转换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4023360"/>
            <a:ext cx="3563112" cy="1371600"/>
          </a:xfrm>
          <a:prstGeom prst="roundRect">
            <a:avLst>
              <a:gd name="adj" fmla="val 5333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4224528"/>
            <a:ext cx="402336" cy="402336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Walle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4321089"/>
            <a:ext cx="209215" cy="2092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20624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费用透明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68096" y="4700016"/>
            <a:ext cx="312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生成走你在对方平台的额度，本平台仅收少量手续费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12920" y="4023360"/>
            <a:ext cx="3563112" cy="1371600"/>
          </a:xfrm>
          <a:prstGeom prst="roundRect">
            <a:avLst>
              <a:gd name="adj" fmla="val 5333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14088" y="4224528"/>
            <a:ext cx="402336" cy="402336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5" name="Image 4" descr="C:\Users\32364\AppData\Local\Temp\claude\E--Kaifa-Qiji-qiji\cb27863a-624a-4b93-8a28-290f7d580275\scratchpad\ppt\icons\LuRefreshCw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649" y="4321089"/>
            <a:ext cx="209215" cy="2092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44440" y="420624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断线不丢单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32376" y="4700016"/>
            <a:ext cx="312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排队再久也能「重连原任务」继续等结果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077200" y="4023360"/>
            <a:ext cx="3563112" cy="1371600"/>
          </a:xfrm>
          <a:prstGeom prst="roundRect">
            <a:avLst>
              <a:gd name="adj" fmla="val 5333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78368" y="4224528"/>
            <a:ext cx="402336" cy="402336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0" name="Image 5" descr="C:\Users\32364\AppData\Local\Temp\claude\E--Kaifa-Qiji-qiji\cb27863a-624a-4b93-8a28-290f7d580275\scratchpad\ppt\icons\LuSettings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929" y="4321089"/>
            <a:ext cx="209215" cy="20921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808720" y="420624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参数自适配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296656" y="4700016"/>
            <a:ext cx="312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档位自动切换为所选渠道支持的范围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F2333"/>
          </a:solidFill>
          <a:ln/>
        </p:spPr>
      </p:sp>
      <p:pic>
        <p:nvPicPr>
          <p:cNvPr id="34" name="Image 6" descr="C:\Users\32364\AppData\Local\Temp\claude\E--Kaifa-Qiji-qiji\cb27863a-624a-4b93-8a28-290f7d580275\scratchpad\ppt\icons\LuLightbulb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760720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15568" y="5687568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已登录复用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终端已登录过对方 CLI 的用户免重复授权，直接可用。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为长期生产而设计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1F2333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hieldCheck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2622042" cy="2926080"/>
          </a:xfrm>
          <a:prstGeom prst="roundRect">
            <a:avLst>
              <a:gd name="adj" fmla="val 2790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RefreshC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35024" y="1737360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断连恢复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286000"/>
            <a:ext cx="218313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生成中关软件、断网都不丢任务，重开自动重连，不重复扣费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71850" y="1554480"/>
            <a:ext cx="2622042" cy="2926080"/>
          </a:xfrm>
          <a:prstGeom prst="roundRect">
            <a:avLst>
              <a:gd name="adj" fmla="val 2790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7301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Walle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746" y="18653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58234" y="1737360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失败自动退款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591306" y="2286000"/>
            <a:ext cx="218313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任务失败积分原路退回，账单在请求记录里笔笔可查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95060" y="1554480"/>
            <a:ext cx="2622042" cy="2926080"/>
          </a:xfrm>
          <a:prstGeom prst="roundRect">
            <a:avLst>
              <a:gd name="adj" fmla="val 2790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9622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ShieldChe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86537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81444" y="1737360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素材自愈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414516" y="2286000"/>
            <a:ext cx="218313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「检查素材」体检云端链接，死链自动用本地副本修复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018270" y="1554480"/>
            <a:ext cx="2622042" cy="2926080"/>
          </a:xfrm>
          <a:prstGeom prst="roundRect">
            <a:avLst>
              <a:gd name="adj" fmla="val 2790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219438" y="1755648"/>
            <a:ext cx="457200" cy="457200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25" name="Image 4" descr="C:\Users\32364\AppData\Local\Temp\claude\E--Kaifa-Qiji-qiji\cb27863a-624a-4b93-8a28-290f7d580275\scratchpad\ppt\icons\LuHistory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166" y="186537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04654" y="1737360"/>
            <a:ext cx="1661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237726" y="2286000"/>
            <a:ext cx="218313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原子写入 + 滚动备份，异常崩溃后自动恢复项目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48640" y="4663440"/>
            <a:ext cx="3563112" cy="1325880"/>
          </a:xfrm>
          <a:prstGeom prst="roundRect">
            <a:avLst>
              <a:gd name="adj" fmla="val 5517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49808" y="4864608"/>
            <a:ext cx="402336" cy="402336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0" name="Image 5" descr="C:\Users\32364\AppData\Local\Temp\claude\E--Kaifa-Qiji-qiji\cb27863a-624a-4b93-8a28-290f7d580275\scratchpad\ppt\icons\LuCoins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9" y="4961169"/>
            <a:ext cx="209215" cy="20921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80160" y="48463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计费透明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768096" y="5340096"/>
            <a:ext cx="3124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积分角标先看价、余额不足直接拒单不扣费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312920" y="4663440"/>
            <a:ext cx="3563112" cy="1325880"/>
          </a:xfrm>
          <a:prstGeom prst="roundRect">
            <a:avLst>
              <a:gd name="adj" fmla="val 5517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514088" y="4864608"/>
            <a:ext cx="402336" cy="402336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35" name="Image 6" descr="C:\Users\32364\AppData\Local\Temp\claude\E--Kaifa-Qiji-qiji\cb27863a-624a-4b93-8a28-290f7d580275\scratchpad\ppt\icons\LuGauge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649" y="4961169"/>
            <a:ext cx="209215" cy="20921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044440" y="48463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热更新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4532376" y="5340096"/>
            <a:ext cx="3124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模型/价格/模板由服务端下发，无需升级软件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8077200" y="4663440"/>
            <a:ext cx="3563112" cy="1325880"/>
          </a:xfrm>
          <a:prstGeom prst="roundRect">
            <a:avLst>
              <a:gd name="adj" fmla="val 5517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8278368" y="4864608"/>
            <a:ext cx="402336" cy="402336"/>
          </a:xfrm>
          <a:prstGeom prst="ellipse">
            <a:avLst/>
          </a:prstGeom>
          <a:solidFill>
            <a:srgbClr val="272C40"/>
          </a:solidFill>
          <a:ln/>
        </p:spPr>
      </p:sp>
      <p:pic>
        <p:nvPicPr>
          <p:cNvPr id="40" name="Image 7" descr="C:\Users\32364\AppData\Local\Temp\claude\E--Kaifa-Qiji-qiji\cb27863a-624a-4b93-8a28-290f7d580275\scratchpad\ppt\icons\LuBadgeCheck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4929" y="4961169"/>
            <a:ext cx="209215" cy="20921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808720" y="48463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操作有确认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8296656" y="5340096"/>
            <a:ext cx="3124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覆盖/删除全部弹确认框，画布支持撤销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4206240" cy="4206240"/>
          </a:xfrm>
          <a:prstGeom prst="ellipse">
            <a:avLst/>
          </a:prstGeom>
          <a:solidFill>
            <a:srgbClr val="3FB0C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开始你的第一部漫剧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拿到激活码 → 注册登录 → 新建项目 → 30 分钟跑通第一集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3063240" cy="1051560"/>
          </a:xfrm>
          <a:prstGeom prst="roundRect">
            <a:avLst>
              <a:gd name="adj" fmla="val 869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7" name="Image 0" descr="C:\Users\32364\AppData\Local\Temp\claude\E--Kaifa-Qiji-qiji\cb27863a-624a-4b93-8a28-290f7d580275\scratchpad\ppt\icons\LuBookOpen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43708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53896" y="4279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《用户教程 · 问答版》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06424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功能速查手册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60520" y="4160520"/>
            <a:ext cx="3063240" cy="1051560"/>
          </a:xfrm>
          <a:prstGeom prst="roundRect">
            <a:avLst>
              <a:gd name="adj" fmla="val 869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1" name="Image 1" descr="C:\Users\32364\AppData\Local\Temp\claude\E--Kaifa-Qiji-qiji\cb27863a-624a-4b93-8a28-290f7d580275\scratchpad\ppt\icons\LuBookOpen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43708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45736" y="4279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《用户教程 · 实战版》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398264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手把手场景教程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452360" y="4160520"/>
            <a:ext cx="3063240" cy="1051560"/>
          </a:xfrm>
          <a:prstGeom prst="roundRect">
            <a:avLst>
              <a:gd name="adj" fmla="val 8696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5" name="Image 2" descr="C:\Users\32364\AppData\Local\Temp\claude\E--Kaifa-Qiji-qiji\cb27863a-624a-4b93-8a28-290f7d580275\scratchpad\ppt\icons\LuBookOpen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816" y="43708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37576" y="4279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《用户培训课件》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690104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新手上手培训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8686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配套资料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6868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遇到问题：先查教程「常见问题」章节，或联系你的服务商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功能介绍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Qiji 功能介绍</dc:title>
  <dc:subject>PptxGenJS Presentation</dc:subject>
  <dc:creator>Qiji</dc:creator>
  <cp:lastModifiedBy>Qiji</cp:lastModifiedBy>
  <cp:revision>1</cp:revision>
  <dcterms:created xsi:type="dcterms:W3CDTF">2026-07-16T09:19:20Z</dcterms:created>
  <dcterms:modified xsi:type="dcterms:W3CDTF">2026-07-16T09:19:20Z</dcterms:modified>
</cp:coreProperties>
</file>